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everyone.</a:t>
            </a:r>
            <a:br>
              <a:rPr lang="en-US"/>
            </a:br>
            <a:br>
              <a:rPr lang="en-US"/>
            </a:br>
            <a:r>
              <a:rPr lang="en-US"/>
              <a:t>My research project examines the idea of the “Listening State” in Kazakhstan from the perspective of undergraduate students in Astana.</a:t>
            </a:r>
            <a:br>
              <a:rPr lang="en-US"/>
            </a:br>
            <a:br>
              <a:rPr lang="en-US"/>
            </a:br>
            <a:r>
              <a:rPr lang="en-US"/>
              <a:t>The Listening State presents the government as responsive to citizens’ concerns and public feedback. However, the existence of feedback channels does not automatically mean that citizens believe they are being heard.</a:t>
            </a:r>
            <a:br>
              <a:rPr lang="en-US"/>
            </a:br>
            <a:br>
              <a:rPr lang="en-US"/>
            </a:br>
            <a:r>
              <a:rPr lang="en-US"/>
              <a:t>Therefore, my research focuses on how students understand government responsiveness and what criteria they use to decide whether public-feedback channels can influence government decisions.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empirical puzzle is the possible gap between the government’s promise to listen and citizens’ perceptions of actual influence.</a:t>
            </a:r>
            <a:br>
              <a:rPr lang="en-US"/>
            </a:br>
            <a:br>
              <a:rPr lang="en-US"/>
            </a:br>
            <a:r>
              <a:rPr lang="en-US"/>
              <a:t>The concept of the Listening State creates an image of a government that pays attention to citizens and responds to their concerns.</a:t>
            </a:r>
            <a:br>
              <a:rPr lang="en-US"/>
            </a:br>
            <a:br>
              <a:rPr lang="en-US"/>
            </a:br>
            <a:r>
              <a:rPr lang="en-US"/>
              <a:t>At the same time, citizens may not know what happens after they submit feedback. They may receive an official response, but this does not necessarily mean that a policy or decision has changed.</a:t>
            </a:r>
            <a:br>
              <a:rPr lang="en-US"/>
            </a:br>
            <a:br>
              <a:rPr lang="en-US"/>
            </a:br>
            <a:r>
              <a:rPr lang="en-US"/>
              <a:t>This creates the central puzzle of my research: why might feedback channels exist while young citizens still doubt that their voices have a meaningful effect on government decisions?</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research question is:</a:t>
            </a:r>
            <a:br>
              <a:rPr lang="en-US"/>
            </a:br>
            <a:br>
              <a:rPr lang="en-US"/>
            </a:br>
            <a:r>
              <a:rPr lang="en-US"/>
              <a:t>“How do undergraduate students in Astana interpret the idea of a Listening State, and what criteria do they use to assess whether public-feedback channels influence government decisions in Kazakhstan in 2026?”</a:t>
            </a:r>
            <a:br>
              <a:rPr lang="en-US"/>
            </a:br>
            <a:br>
              <a:rPr lang="en-US"/>
            </a:br>
            <a:r>
              <a:rPr lang="en-US"/>
              <a:t>The population is undergraduate students in Astana.</a:t>
            </a:r>
            <a:br>
              <a:rPr lang="en-US"/>
            </a:br>
            <a:br>
              <a:rPr lang="en-US"/>
            </a:br>
            <a:r>
              <a:rPr lang="en-US"/>
              <a:t>The phenomenon is how students understand government responsiveness and citizen influence.</a:t>
            </a:r>
            <a:br>
              <a:rPr lang="en-US"/>
            </a:br>
            <a:br>
              <a:rPr lang="en-US"/>
            </a:br>
            <a:r>
              <a:rPr lang="en-US"/>
              <a:t>The context is public-feedback and participation channels in Kazakhstan, and the study focuses on students’ perspectives in 2026.</a:t>
            </a:r>
            <a:br>
              <a:rPr lang="en-US"/>
            </a:br>
            <a:br>
              <a:rPr lang="en-US"/>
            </a:br>
            <a:r>
              <a:rPr lang="en-US"/>
              <a:t>The question is answerable through interviews because students can explain what “being heard” means to them and what evidence they would use to judge whether feedback has influenced a decision.</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position my study within an interpretivist research approach.</a:t>
            </a:r>
            <a:br>
              <a:rPr lang="en-US"/>
            </a:br>
            <a:br>
              <a:rPr lang="en-US"/>
            </a:br>
            <a:r>
              <a:rPr lang="en-US"/>
              <a:t>Interpretivism fits this question because the study focuses on meaning and interpretation.</a:t>
            </a:r>
            <a:br>
              <a:rPr lang="en-US"/>
            </a:br>
            <a:br>
              <a:rPr lang="en-US"/>
            </a:br>
            <a:r>
              <a:rPr lang="en-US"/>
              <a:t>The Listening State may mean different things to different students. One student may believe that receiving an official reply means the government is listening. Another student may believe that listening only matters when public feedback leads to a visible policy change.</a:t>
            </a:r>
            <a:br>
              <a:rPr lang="en-US"/>
            </a:br>
            <a:br>
              <a:rPr lang="en-US"/>
            </a:br>
            <a:r>
              <a:rPr lang="en-US"/>
              <a:t>An interpretivist approach allows me to examine these different meanings rather than assuming that responsiveness has one objective definition.</a:t>
            </a:r>
            <a:br>
              <a:rPr lang="en-US"/>
            </a:br>
            <a:br>
              <a:rPr lang="en-US"/>
            </a:br>
            <a:r>
              <a:rPr lang="en-US"/>
              <a:t>The approach also recognizes that students’ interpretations are shaped by their experiences, trust in institutions, political interest, and social context.</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research makes three main contributions.</a:t>
            </a:r>
            <a:br>
              <a:rPr lang="en-US"/>
            </a:br>
            <a:br>
              <a:rPr lang="en-US"/>
            </a:br>
            <a:r>
              <a:rPr lang="en-US"/>
              <a:t>First, it shifts attention from institutions to citizens. Existing discussions may focus on whether feedback systems or Public Councils exist. My study focuses on how citizens understand and evaluate these systems.</a:t>
            </a:r>
            <a:br>
              <a:rPr lang="en-US"/>
            </a:br>
            <a:br>
              <a:rPr lang="en-US"/>
            </a:br>
            <a:r>
              <a:rPr lang="en-US"/>
              <a:t>Second, it connects government feedback with political efficacy. Political efficacy refers to whether people believe they can understand politics and influence public decisions.</a:t>
            </a:r>
            <a:br>
              <a:rPr lang="en-US"/>
            </a:br>
            <a:br>
              <a:rPr lang="en-US"/>
            </a:br>
            <a:r>
              <a:rPr lang="en-US"/>
              <a:t>Third, the research provides a youth perspective. Undergraduate students are developing their political identities and may have experience with both formal and informal political participation.</a:t>
            </a:r>
            <a:br>
              <a:rPr lang="en-US"/>
            </a:br>
            <a:br>
              <a:rPr lang="en-US"/>
            </a:br>
            <a:r>
              <a:rPr lang="en-US"/>
              <a:t>Their views can show whether public-feedback channels are seen as meaningful opportunities or merely formal procedures.</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literature review uses five scholarly sources connected to government responsiveness, formal participation, and civic engagement.</a:t>
            </a:r>
            <a:br>
              <a:rPr lang="en-US"/>
            </a:br>
            <a:br>
              <a:rPr lang="en-US"/>
            </a:br>
            <a:r>
              <a:rPr lang="en-US"/>
              <a:t>First, Smailova and colleagues help explain public-opinion monitoring and how information about citizens’ views may be incorporated into government decision-making. This is relevant because my research examines whether students believe public feedback is actually used by the state.</a:t>
            </a:r>
            <a:br>
              <a:rPr lang="en-US"/>
            </a:br>
            <a:br>
              <a:rPr lang="en-US"/>
            </a:br>
            <a:r>
              <a:rPr lang="en-US"/>
              <a:t>Second, Knox and Janenova examine Public Councils as institutions of participative democracy in Kazakhstan. Their work helps explain the formal structures through which citizens may communicate with government institutions.</a:t>
            </a:r>
            <a:br>
              <a:rPr lang="en-US"/>
            </a:br>
            <a:br>
              <a:rPr lang="en-US"/>
            </a:br>
            <a:r>
              <a:rPr lang="en-US"/>
              <a:t>Third, Makulbayeva and Sharipova focus on the relationship between Public Councils and social capital. This is useful for considering how trust, relationships, and institutional credibility influence whether citizens view participation channels as meaningful.</a:t>
            </a:r>
            <a:br>
              <a:rPr lang="en-US"/>
            </a:br>
            <a:br>
              <a:rPr lang="en-US"/>
            </a:br>
            <a:r>
              <a:rPr lang="en-US"/>
              <a:t>Fourth, Mussagulova and Janenova examine policy advisory systems and the role of public and private research organizations. Their work helps explain how expertise and public perspectives may enter the policy process.</a:t>
            </a:r>
            <a:br>
              <a:rPr lang="en-US"/>
            </a:br>
            <a:br>
              <a:rPr lang="en-US"/>
            </a:br>
            <a:r>
              <a:rPr lang="en-US"/>
              <a:t>Finally, Ekman and Amnå provide a broader framework for understanding political participation. They show that participation can take different forms, including formal involvement, political discussion, and less visible civic engagement.</a:t>
            </a:r>
            <a:br>
              <a:rPr lang="en-US"/>
            </a:br>
            <a:br>
              <a:rPr lang="en-US"/>
            </a:br>
            <a:r>
              <a:rPr lang="en-US"/>
              <a:t>These sources complement one another. Smailova focuses on information and public opinion; Knox and Janenova and Makulbayeva and Sharipova focus on participatory institutions; Mussagulova and Janenova focus on policy advice; and Ekman and Amnå provide a broader participation framework.</a:t>
            </a:r>
            <a:br>
              <a:rPr lang="en-US"/>
            </a:br>
            <a:br>
              <a:rPr lang="en-US"/>
            </a:br>
            <a:r>
              <a:rPr lang="en-US"/>
              <a:t>However, these sources do not fully explain how young citizens themselves decide whether government listening is genuine. My research addresses this gap by examining the interpretations of undergraduate students in Astana.</a:t>
            </a:r>
            <a:br>
              <a:rPr lang="en-US"/>
            </a:br>
            <a:br>
              <a:rPr lang="en-US"/>
            </a:br>
            <a:r>
              <a:rPr lang="en-US"/>
              <a:t>(Full references are on the last slide.)</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analytical framework uses five sensitising concepts.</a:t>
            </a:r>
            <a:br>
              <a:rPr lang="en-US"/>
            </a:br>
            <a:br>
              <a:rPr lang="en-US"/>
            </a:br>
            <a:r>
              <a:rPr lang="en-US"/>
              <a:t>The first is responsiveness. I will examine what students consider a real government response.</a:t>
            </a:r>
            <a:br>
              <a:rPr lang="en-US"/>
            </a:br>
            <a:br>
              <a:rPr lang="en-US"/>
            </a:br>
            <a:r>
              <a:rPr lang="en-US"/>
              <a:t>The second is voice. I will ask whether students feel able to express their political concerns.</a:t>
            </a:r>
            <a:br>
              <a:rPr lang="en-US"/>
            </a:br>
            <a:br>
              <a:rPr lang="en-US"/>
            </a:br>
            <a:r>
              <a:rPr lang="en-US"/>
              <a:t>The third is trust. Students may be less willing to use feedback mechanisms if they do not believe institutions take their opinions seriously.</a:t>
            </a:r>
            <a:br>
              <a:rPr lang="en-US"/>
            </a:br>
            <a:br>
              <a:rPr lang="en-US"/>
            </a:br>
            <a:r>
              <a:rPr lang="en-US"/>
              <a:t>The fourth is political efficacy, meaning whether students believe they can influence government decisions.</a:t>
            </a:r>
            <a:br>
              <a:rPr lang="en-US"/>
            </a:br>
            <a:br>
              <a:rPr lang="en-US"/>
            </a:br>
            <a:r>
              <a:rPr lang="en-US"/>
              <a:t>The fifth is the distinction between symbolic and substantive participation. Symbolic participation may allow citizens to submit feedback without producing any meaningful response. Substantive participation means that feedback is considered, explained, or connected to a decision.</a:t>
            </a:r>
            <a:br>
              <a:rPr lang="en-US"/>
            </a:br>
            <a:br>
              <a:rPr lang="en-US"/>
            </a:br>
            <a:r>
              <a:rPr lang="en-US"/>
              <a:t>I will use these concepts as analytical categories when interpreting the interviews. They will guide my analysis without forcing participants’ answers into predetermined conclusions.</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have three initial expectations, but they are open to revision.</a:t>
            </a:r>
            <a:br>
              <a:rPr lang="en-US"/>
            </a:br>
            <a:br>
              <a:rPr lang="en-US"/>
            </a:br>
            <a:r>
              <a:rPr lang="en-US"/>
              <a:t>First, I expect students may distinguish between formal and meaningful responsiveness. An official reply may be viewed as formal responsiveness, while visible action or a clear explanation may be viewed as meaningful responsiveness.</a:t>
            </a:r>
            <a:br>
              <a:rPr lang="en-US"/>
            </a:br>
            <a:br>
              <a:rPr lang="en-US"/>
            </a:br>
            <a:r>
              <a:rPr lang="en-US"/>
              <a:t>Second, I expect trust may shape participation. Students who believe that institutions use feedback seriously may be more willing to use public-feedback channels. Students who distrust institutions may avoid them.</a:t>
            </a:r>
            <a:br>
              <a:rPr lang="en-US"/>
            </a:br>
            <a:br>
              <a:rPr lang="en-US"/>
            </a:br>
            <a:r>
              <a:rPr lang="en-US"/>
              <a:t>Third, I expect students may judge influence through visible outcomes. They may look for a policy change, an explanation from officials, public acknowledgment, or other evidence that feedback was considered.</a:t>
            </a:r>
            <a:br>
              <a:rPr lang="en-US"/>
            </a:br>
            <a:br>
              <a:rPr lang="en-US"/>
            </a:br>
            <a:r>
              <a:rPr lang="en-US"/>
              <a:t>These are not positivist hypotheses. They are transparent interpretivist expectations that may be confirmed, challenged, or revised during the interviews.</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will use qualitative semi-structured interviews with approximately six to eight undergraduate students in Astana.</a:t>
            </a:r>
            <a:br>
              <a:rPr lang="en-US"/>
            </a:br>
            <a:br>
              <a:rPr lang="en-US"/>
            </a:br>
            <a:r>
              <a:rPr lang="en-US"/>
              <a:t>I will use purposive sampling. This means that I will try to include participants with different experiences and perspectives. I will not claim that the sample statistically represents all students in Kazakhstan.</a:t>
            </a:r>
            <a:br>
              <a:rPr lang="en-US"/>
            </a:br>
            <a:br>
              <a:rPr lang="en-US"/>
            </a:br>
            <a:r>
              <a:rPr lang="en-US"/>
              <a:t>The interviews will explore how students define the Listening State, whether they know about or have used public-feedback channels, and what makes them trust or distrust these mechanisms.</a:t>
            </a:r>
            <a:br>
              <a:rPr lang="en-US"/>
            </a:br>
            <a:br>
              <a:rPr lang="en-US"/>
            </a:br>
            <a:r>
              <a:rPr lang="en-US"/>
              <a:t>I will also ask what students consider meaningful participation. For example, I may ask whether receiving an official reply is enough or whether they expect a visible change in policy.</a:t>
            </a:r>
            <a:br>
              <a:rPr lang="en-US"/>
            </a:br>
            <a:br>
              <a:rPr lang="en-US"/>
            </a:br>
            <a:r>
              <a:rPr lang="en-US"/>
              <a:t>I will analyze the interviews through interpretive thematic analysis. I will look for common themes, differences, contradictions, and unexpected meanings using the sensitising concepts from my analytical framework.</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positionality is important because I am also an undergraduate student in Kazakhstan.</a:t>
            </a:r>
            <a:br>
              <a:rPr lang="en-US"/>
            </a:br>
            <a:br>
              <a:rPr lang="en-US"/>
            </a:br>
            <a:r>
              <a:rPr lang="en-US"/>
              <a:t>This gives me some shared context with the participants. I may understand aspects of student life, public discussion, and communication that an outside researcher might not immediately recognize.</a:t>
            </a:r>
            <a:br>
              <a:rPr lang="en-US"/>
            </a:br>
            <a:br>
              <a:rPr lang="en-US"/>
            </a:br>
            <a:r>
              <a:rPr lang="en-US"/>
              <a:t>However, this position may also create bias. I may already have assumptions about whether the government listens or whether feedback channels are effective.</a:t>
            </a:r>
            <a:br>
              <a:rPr lang="en-US"/>
            </a:br>
            <a:br>
              <a:rPr lang="en-US"/>
            </a:br>
            <a:r>
              <a:rPr lang="en-US"/>
              <a:t>To address this, I will ask open and non-leading questions. I will write reflexive notes after interviews to identify my own reactions and assumptions.</a:t>
            </a:r>
            <a:br>
              <a:rPr lang="en-US"/>
            </a:br>
            <a:br>
              <a:rPr lang="en-US"/>
            </a:br>
            <a:r>
              <a:rPr lang="en-US"/>
              <a:t>I will also make sure that participants’ explanations guide the analysis, including answers that challenge my expectations.</a:t>
            </a:r>
            <a:endParaRPr/>
          </a:p>
        </p:txBody>
      </p:sp>
      <p:sp>
        <p:nvSpPr>
          <p:cNvPr id="230" name="Google Shape;23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used AI as a critical support tool during the development of this project.</a:t>
            </a:r>
            <a:br>
              <a:rPr lang="en-US"/>
            </a:br>
            <a:br>
              <a:rPr lang="en-US"/>
            </a:br>
            <a:r>
              <a:rPr lang="en-US"/>
              <a:t>I used it to refine the wording of my research question, organize the presentation structure, and identify possible sensitising concepts related to responsiveness, trust, and political efficacy.</a:t>
            </a:r>
            <a:br>
              <a:rPr lang="en-US"/>
            </a:br>
            <a:br>
              <a:rPr lang="en-US"/>
            </a:br>
            <a:r>
              <a:rPr lang="en-US"/>
              <a:t>I did not treat AI-generated information as automatically correct. I checked the suggestions against the course materials and academic sources.</a:t>
            </a:r>
            <a:br>
              <a:rPr lang="en-US"/>
            </a:br>
            <a:br>
              <a:rPr lang="en-US"/>
            </a:br>
            <a:r>
              <a:rPr lang="en-US"/>
              <a:t>I remain responsible for selecting the topic, checking the literature, deciding on the interpretivist approach, and developing the final argument of the presentation.</a:t>
            </a:r>
            <a:endParaRPr/>
          </a:p>
        </p:txBody>
      </p:sp>
      <p:sp>
        <p:nvSpPr>
          <p:cNvPr id="256" name="Google Shape;2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I now understand that a strong research question needs a clear population, context, phenomenon, and time period.</a:t>
            </a:r>
            <a:br>
              <a:rPr lang="en-US"/>
            </a:br>
            <a:br>
              <a:rPr lang="en-US"/>
            </a:br>
            <a:r>
              <a:rPr lang="en-US"/>
              <a:t>I also understand why interpretivism is appropriate for my project. I am not simply measuring how many students use feedback channels. I am examining how students understand responsiveness, trust, and political influence.</a:t>
            </a:r>
            <a:br>
              <a:rPr lang="en-US"/>
            </a:br>
            <a:br>
              <a:rPr lang="en-US"/>
            </a:br>
            <a:r>
              <a:rPr lang="en-US"/>
              <a:t>I have also learned that a literature review should not only list sources. It should connect their arguments and identify what remains underexplored.</a:t>
            </a:r>
            <a:br>
              <a:rPr lang="en-US"/>
            </a:br>
            <a:br>
              <a:rPr lang="en-US"/>
            </a:br>
            <a:r>
              <a:rPr lang="en-US"/>
              <a:t>One important point is that the existence of a participation channel does not automatically make participation meaningful. Citizens also need to believe that their feedback is considered and can affect decisions.</a:t>
            </a:r>
            <a:br>
              <a:rPr lang="en-US"/>
            </a:br>
            <a:br>
              <a:rPr lang="en-US"/>
            </a:br>
            <a:r>
              <a:rPr lang="en-US"/>
              <a:t>For the next stage, I still need to refine my interview questions, recruitment strategy, informed-consent process, and approach to comparing different student perspectives fairly.</a:t>
            </a:r>
            <a:br>
              <a:rPr lang="en-US"/>
            </a:br>
            <a:br>
              <a:rPr lang="en-US"/>
            </a:br>
            <a:r>
              <a:rPr lang="en-US"/>
              <a:t>Thank you for listening. I welcome your questions and feedback.</a:t>
            </a:r>
            <a:endParaRPr/>
          </a:p>
        </p:txBody>
      </p:sp>
      <p:sp>
        <p:nvSpPr>
          <p:cNvPr id="285" name="Google Shape;2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47"/>
        </a:solidFill>
      </p:bgPr>
    </p:bg>
    <p:spTree>
      <p:nvGrpSpPr>
        <p:cNvPr id="15" name="Shape 15"/>
        <p:cNvGrpSpPr/>
        <p:nvPr/>
      </p:nvGrpSpPr>
      <p:grpSpPr>
        <a:xfrm>
          <a:off x="0" y="0"/>
          <a:ext cx="0" cy="0"/>
          <a:chOff x="0" y="0"/>
          <a:chExt cx="0" cy="0"/>
        </a:xfrm>
      </p:grpSpPr>
      <p:sp>
        <p:nvSpPr>
          <p:cNvPr id="16" name="Google Shape;16;p3"/>
          <p:cNvSpPr/>
          <p:nvPr/>
        </p:nvSpPr>
        <p:spPr>
          <a:xfrm>
            <a:off x="5532120" y="731520"/>
            <a:ext cx="3566160" cy="3566160"/>
          </a:xfrm>
          <a:prstGeom prst="ellipse">
            <a:avLst/>
          </a:prstGeom>
          <a:solidFill>
            <a:srgbClr val="A9CBEE">
              <a:alpha val="7843"/>
            </a:srgbClr>
          </a:solidFill>
          <a:ln cap="flat" cmpd="sng" w="12700">
            <a:solidFill>
              <a:srgbClr val="A9C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035040" y="1234440"/>
            <a:ext cx="2560320" cy="2560320"/>
          </a:xfrm>
          <a:prstGeom prst="ellipse">
            <a:avLst/>
          </a:prstGeom>
          <a:solidFill>
            <a:srgbClr val="A9CBEE">
              <a:alpha val="14118"/>
            </a:srgbClr>
          </a:solidFill>
          <a:ln cap="flat" cmpd="sng" w="12700">
            <a:solidFill>
              <a:srgbClr val="A9C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537960" y="1737360"/>
            <a:ext cx="1554480" cy="1554480"/>
          </a:xfrm>
          <a:prstGeom prst="ellipse">
            <a:avLst/>
          </a:prstGeom>
          <a:solidFill>
            <a:srgbClr val="A9CBEE"/>
          </a:solidFill>
          <a:ln cap="flat" cmpd="sng" w="12700">
            <a:solidFill>
              <a:srgbClr val="A9C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nvSpPr>
        <p:spPr>
          <a:xfrm>
            <a:off x="6537960" y="196596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447"/>
              </a:buClr>
              <a:buSzPts val="6600"/>
              <a:buFont typeface="Cambria"/>
              <a:buNone/>
            </a:pPr>
            <a:r>
              <a:rPr b="1" i="0" lang="en-US" sz="6600" u="none" cap="none" strike="noStrike">
                <a:solidFill>
                  <a:srgbClr val="0B2447"/>
                </a:solidFill>
                <a:latin typeface="Cambria"/>
                <a:ea typeface="Cambria"/>
                <a:cs typeface="Cambria"/>
                <a:sym typeface="Cambria"/>
              </a:rPr>
              <a:t>“”</a:t>
            </a:r>
            <a:endParaRPr b="0" i="0" sz="6600" u="none" cap="none" strike="noStrike">
              <a:solidFill>
                <a:schemeClr val="dk1"/>
              </a:solidFill>
              <a:latin typeface="Calibri"/>
              <a:ea typeface="Calibri"/>
              <a:cs typeface="Calibri"/>
              <a:sym typeface="Calibri"/>
            </a:endParaRPr>
          </a:p>
        </p:txBody>
      </p:sp>
      <p:sp>
        <p:nvSpPr>
          <p:cNvPr id="20" name="Google Shape;20;p3"/>
          <p:cNvSpPr txBox="1"/>
          <p:nvPr/>
        </p:nvSpPr>
        <p:spPr>
          <a:xfrm>
            <a:off x="548640" y="457200"/>
            <a:ext cx="48463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900"/>
              <a:buFont typeface="Calibri"/>
              <a:buNone/>
            </a:pPr>
            <a:r>
              <a:rPr b="1" i="0" lang="en-US" sz="900" u="none" cap="none" strike="noStrike">
                <a:solidFill>
                  <a:srgbClr val="A9CBEE"/>
                </a:solidFill>
                <a:latin typeface="Calibri"/>
                <a:ea typeface="Calibri"/>
                <a:cs typeface="Calibri"/>
                <a:sym typeface="Calibri"/>
              </a:rPr>
              <a:t>PLS210 POLITICAL SCIENCE RESEARCH METHODS · FALL 2026</a:t>
            </a:r>
            <a:endParaRPr b="0" i="0" sz="900" u="none" cap="none" strike="noStrike">
              <a:solidFill>
                <a:schemeClr val="dk1"/>
              </a:solidFill>
              <a:latin typeface="Calibri"/>
              <a:ea typeface="Calibri"/>
              <a:cs typeface="Calibri"/>
              <a:sym typeface="Calibri"/>
            </a:endParaRPr>
          </a:p>
        </p:txBody>
      </p:sp>
      <p:sp>
        <p:nvSpPr>
          <p:cNvPr id="21" name="Google Shape;21;p3"/>
          <p:cNvSpPr txBox="1"/>
          <p:nvPr/>
        </p:nvSpPr>
        <p:spPr>
          <a:xfrm>
            <a:off x="548640" y="960120"/>
            <a:ext cx="484632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The “Listening State” and Student Perceptions of Government Responsiveness</a:t>
            </a:r>
            <a:endParaRPr b="0" i="0" sz="2800" u="none" cap="none" strike="noStrike">
              <a:solidFill>
                <a:schemeClr val="dk1"/>
              </a:solidFill>
              <a:latin typeface="Calibri"/>
              <a:ea typeface="Calibri"/>
              <a:cs typeface="Calibri"/>
              <a:sym typeface="Calibri"/>
            </a:endParaRPr>
          </a:p>
        </p:txBody>
      </p:sp>
      <p:sp>
        <p:nvSpPr>
          <p:cNvPr id="22" name="Google Shape;22;p3"/>
          <p:cNvSpPr txBox="1"/>
          <p:nvPr/>
        </p:nvSpPr>
        <p:spPr>
          <a:xfrm>
            <a:off x="548640" y="288036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300"/>
              <a:buFont typeface="Calibri"/>
              <a:buNone/>
            </a:pPr>
            <a:r>
              <a:rPr b="0" i="0" lang="en-US" sz="1300" u="none" cap="none" strike="noStrike">
                <a:solidFill>
                  <a:srgbClr val="A9CBEE"/>
                </a:solidFill>
                <a:latin typeface="Calibri"/>
                <a:ea typeface="Calibri"/>
                <a:cs typeface="Calibri"/>
                <a:sym typeface="Calibri"/>
              </a:rPr>
              <a:t>How undergraduate students in Astana interpret public-feedback channels and their potential influence on government decisions</a:t>
            </a:r>
            <a:endParaRPr b="0" i="0" sz="1300" u="none" cap="none" strike="noStrike">
              <a:solidFill>
                <a:schemeClr val="dk1"/>
              </a:solidFill>
              <a:latin typeface="Calibri"/>
              <a:ea typeface="Calibri"/>
              <a:cs typeface="Calibri"/>
              <a:sym typeface="Calibri"/>
            </a:endParaRPr>
          </a:p>
        </p:txBody>
      </p:sp>
      <p:sp>
        <p:nvSpPr>
          <p:cNvPr id="23" name="Google Shape;23;p3"/>
          <p:cNvSpPr txBox="1"/>
          <p:nvPr/>
        </p:nvSpPr>
        <p:spPr>
          <a:xfrm>
            <a:off x="548640" y="3931920"/>
            <a:ext cx="48463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Presentation #1 · Interpretivist Research Design</a:t>
            </a:r>
            <a:endParaRPr b="0" i="0" sz="1200" u="none" cap="none" strike="noStrike">
              <a:solidFill>
                <a:schemeClr val="dk1"/>
              </a:solidFill>
              <a:latin typeface="Calibri"/>
              <a:ea typeface="Calibri"/>
              <a:cs typeface="Calibri"/>
              <a:sym typeface="Calibri"/>
            </a:endParaRPr>
          </a:p>
        </p:txBody>
      </p:sp>
      <p:sp>
        <p:nvSpPr>
          <p:cNvPr id="24" name="Google Shape;24;p3"/>
          <p:cNvSpPr txBox="1"/>
          <p:nvPr/>
        </p:nvSpPr>
        <p:spPr>
          <a:xfrm>
            <a:off x="548640" y="4251960"/>
            <a:ext cx="4846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Nursultan Kuandyk</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4"/>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THE EMPIRICAL PUZZLE</a:t>
            </a:r>
            <a:endParaRPr b="0" i="0" sz="1000" u="none" cap="none" strike="noStrike">
              <a:solidFill>
                <a:schemeClr val="dk1"/>
              </a:solidFill>
              <a:latin typeface="Calibri"/>
              <a:ea typeface="Calibri"/>
              <a:cs typeface="Calibri"/>
              <a:sym typeface="Calibri"/>
            </a:endParaRPr>
          </a:p>
        </p:txBody>
      </p:sp>
      <p:sp>
        <p:nvSpPr>
          <p:cNvPr id="31" name="Google Shape;31;p4"/>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Responsiveness versus influence</a:t>
            </a:r>
            <a:endParaRPr b="0" i="0" sz="2800" u="none" cap="none" strike="noStrike">
              <a:solidFill>
                <a:schemeClr val="dk1"/>
              </a:solidFill>
              <a:latin typeface="Calibri"/>
              <a:ea typeface="Calibri"/>
              <a:cs typeface="Calibri"/>
              <a:sym typeface="Calibri"/>
            </a:endParaRPr>
          </a:p>
        </p:txBody>
      </p:sp>
      <p:sp>
        <p:nvSpPr>
          <p:cNvPr id="32" name="Google Shape;32;p4"/>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33" name="Google Shape;33;p4"/>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4" name="Google Shape;34;p4"/>
          <p:cNvSpPr/>
          <p:nvPr/>
        </p:nvSpPr>
        <p:spPr>
          <a:xfrm>
            <a:off x="457200" y="1371600"/>
            <a:ext cx="3840480" cy="1874520"/>
          </a:xfrm>
          <a:prstGeom prst="roundRect">
            <a:avLst>
              <a:gd fmla="val 4878"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nvSpPr>
        <p:spPr>
          <a:xfrm>
            <a:off x="685800" y="1536192"/>
            <a:ext cx="33832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TOP-DOWN</a:t>
            </a:r>
            <a:endParaRPr b="0" i="0" sz="1000" u="none" cap="none" strike="noStrike">
              <a:solidFill>
                <a:schemeClr val="dk1"/>
              </a:solidFill>
              <a:latin typeface="Calibri"/>
              <a:ea typeface="Calibri"/>
              <a:cs typeface="Calibri"/>
              <a:sym typeface="Calibri"/>
            </a:endParaRPr>
          </a:p>
        </p:txBody>
      </p:sp>
      <p:sp>
        <p:nvSpPr>
          <p:cNvPr id="36" name="Google Shape;36;p4"/>
          <p:cNvSpPr txBox="1"/>
          <p:nvPr/>
        </p:nvSpPr>
        <p:spPr>
          <a:xfrm>
            <a:off x="685800" y="1755648"/>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900"/>
              <a:buFont typeface="Cambria"/>
              <a:buNone/>
            </a:pPr>
            <a:r>
              <a:rPr b="1" i="0" lang="en-US" sz="1900" u="none" cap="none" strike="noStrike">
                <a:solidFill>
                  <a:srgbClr val="0B2447"/>
                </a:solidFill>
                <a:latin typeface="Cambria"/>
                <a:ea typeface="Cambria"/>
                <a:cs typeface="Cambria"/>
                <a:sym typeface="Cambria"/>
              </a:rPr>
              <a:t>Policy Promise</a:t>
            </a:r>
            <a:endParaRPr b="0" i="0" sz="1900" u="none" cap="none" strike="noStrike">
              <a:solidFill>
                <a:schemeClr val="dk1"/>
              </a:solidFill>
              <a:latin typeface="Calibri"/>
              <a:ea typeface="Calibri"/>
              <a:cs typeface="Calibri"/>
              <a:sym typeface="Calibri"/>
            </a:endParaRPr>
          </a:p>
        </p:txBody>
      </p:sp>
      <p:sp>
        <p:nvSpPr>
          <p:cNvPr id="37" name="Google Shape;37;p4"/>
          <p:cNvSpPr txBox="1"/>
          <p:nvPr/>
        </p:nvSpPr>
        <p:spPr>
          <a:xfrm>
            <a:off x="685800" y="2194560"/>
            <a:ext cx="33832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50"/>
              <a:buFont typeface="Calibri"/>
              <a:buNone/>
            </a:pPr>
            <a:r>
              <a:rPr b="0" i="0" lang="en-US" sz="1350" u="none" cap="none" strike="noStrike">
                <a:solidFill>
                  <a:srgbClr val="14243B"/>
                </a:solidFill>
                <a:latin typeface="Calibri"/>
                <a:ea typeface="Calibri"/>
                <a:cs typeface="Calibri"/>
                <a:sym typeface="Calibri"/>
              </a:rPr>
              <a:t>The “Listening State” presents the government as responsive to public concerns and citizen feedback.</a:t>
            </a:r>
            <a:endParaRPr b="0" i="0" sz="1350" u="none" cap="none" strike="noStrike">
              <a:solidFill>
                <a:schemeClr val="dk1"/>
              </a:solidFill>
              <a:latin typeface="Calibri"/>
              <a:ea typeface="Calibri"/>
              <a:cs typeface="Calibri"/>
              <a:sym typeface="Calibri"/>
            </a:endParaRPr>
          </a:p>
        </p:txBody>
      </p:sp>
      <p:sp>
        <p:nvSpPr>
          <p:cNvPr id="38" name="Google Shape;38;p4"/>
          <p:cNvSpPr/>
          <p:nvPr/>
        </p:nvSpPr>
        <p:spPr>
          <a:xfrm>
            <a:off x="4846320" y="1371600"/>
            <a:ext cx="3840480" cy="1874520"/>
          </a:xfrm>
          <a:prstGeom prst="roundRect">
            <a:avLst>
              <a:gd fmla="val 4878"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txBox="1"/>
          <p:nvPr/>
        </p:nvSpPr>
        <p:spPr>
          <a:xfrm>
            <a:off x="5074920" y="1536192"/>
            <a:ext cx="33832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BOTTOM-UP</a:t>
            </a:r>
            <a:endParaRPr b="0" i="0" sz="1000" u="none" cap="none" strike="noStrike">
              <a:solidFill>
                <a:schemeClr val="dk1"/>
              </a:solidFill>
              <a:latin typeface="Calibri"/>
              <a:ea typeface="Calibri"/>
              <a:cs typeface="Calibri"/>
              <a:sym typeface="Calibri"/>
            </a:endParaRPr>
          </a:p>
        </p:txBody>
      </p:sp>
      <p:sp>
        <p:nvSpPr>
          <p:cNvPr id="40" name="Google Shape;40;p4"/>
          <p:cNvSpPr txBox="1"/>
          <p:nvPr/>
        </p:nvSpPr>
        <p:spPr>
          <a:xfrm>
            <a:off x="5074920" y="1755648"/>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900"/>
              <a:buFont typeface="Cambria"/>
              <a:buNone/>
            </a:pPr>
            <a:r>
              <a:rPr b="1" i="0" lang="en-US" sz="1900" u="none" cap="none" strike="noStrike">
                <a:solidFill>
                  <a:srgbClr val="0B2447"/>
                </a:solidFill>
                <a:latin typeface="Cambria"/>
                <a:ea typeface="Cambria"/>
                <a:cs typeface="Cambria"/>
                <a:sym typeface="Cambria"/>
              </a:rPr>
              <a:t>Uncertainty</a:t>
            </a:r>
            <a:endParaRPr b="0" i="0" sz="1900" u="none" cap="none" strike="noStrike">
              <a:solidFill>
                <a:schemeClr val="dk1"/>
              </a:solidFill>
              <a:latin typeface="Calibri"/>
              <a:ea typeface="Calibri"/>
              <a:cs typeface="Calibri"/>
              <a:sym typeface="Calibri"/>
            </a:endParaRPr>
          </a:p>
        </p:txBody>
      </p:sp>
      <p:sp>
        <p:nvSpPr>
          <p:cNvPr id="41" name="Google Shape;41;p4"/>
          <p:cNvSpPr txBox="1"/>
          <p:nvPr/>
        </p:nvSpPr>
        <p:spPr>
          <a:xfrm>
            <a:off x="5074920" y="2194560"/>
            <a:ext cx="33832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50"/>
              <a:buFont typeface="Calibri"/>
              <a:buNone/>
            </a:pPr>
            <a:r>
              <a:rPr b="0" i="0" lang="en-US" sz="1350" u="none" cap="none" strike="noStrike">
                <a:solidFill>
                  <a:srgbClr val="14243B"/>
                </a:solidFill>
                <a:latin typeface="Calibri"/>
                <a:ea typeface="Calibri"/>
                <a:cs typeface="Calibri"/>
                <a:sym typeface="Calibri"/>
              </a:rPr>
              <a:t>Citizens may submit complaints, comments, or suggestions without knowing whether their feedback affects government decisions.</a:t>
            </a:r>
            <a:endParaRPr b="0" i="0" sz="1350" u="none" cap="none" strike="noStrike">
              <a:solidFill>
                <a:schemeClr val="dk1"/>
              </a:solidFill>
              <a:latin typeface="Calibri"/>
              <a:ea typeface="Calibri"/>
              <a:cs typeface="Calibri"/>
              <a:sym typeface="Calibri"/>
            </a:endParaRPr>
          </a:p>
        </p:txBody>
      </p:sp>
      <p:sp>
        <p:nvSpPr>
          <p:cNvPr id="42" name="Google Shape;42;p4"/>
          <p:cNvSpPr/>
          <p:nvPr/>
        </p:nvSpPr>
        <p:spPr>
          <a:xfrm>
            <a:off x="4343400" y="2084832"/>
            <a:ext cx="457200" cy="457200"/>
          </a:xfrm>
          <a:prstGeom prst="ellipse">
            <a:avLst/>
          </a:prstGeom>
          <a:solidFill>
            <a:srgbClr val="0B2447"/>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txBox="1"/>
          <p:nvPr/>
        </p:nvSpPr>
        <p:spPr>
          <a:xfrm>
            <a:off x="4343400" y="208483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vs</a:t>
            </a:r>
            <a:endParaRPr b="0" i="0" sz="1200" u="none" cap="none" strike="noStrike">
              <a:solidFill>
                <a:schemeClr val="dk1"/>
              </a:solidFill>
              <a:latin typeface="Calibri"/>
              <a:ea typeface="Calibri"/>
              <a:cs typeface="Calibri"/>
              <a:sym typeface="Calibri"/>
            </a:endParaRPr>
          </a:p>
        </p:txBody>
      </p:sp>
      <p:sp>
        <p:nvSpPr>
          <p:cNvPr id="44" name="Google Shape;44;p4"/>
          <p:cNvSpPr/>
          <p:nvPr/>
        </p:nvSpPr>
        <p:spPr>
          <a:xfrm>
            <a:off x="457200" y="3474720"/>
            <a:ext cx="8229600" cy="1143000"/>
          </a:xfrm>
          <a:prstGeom prst="roundRect">
            <a:avLst>
              <a:gd fmla="val 8000"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txBox="1"/>
          <p:nvPr/>
        </p:nvSpPr>
        <p:spPr>
          <a:xfrm>
            <a:off x="731520" y="3611880"/>
            <a:ext cx="27432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CORE INSIGHT</a:t>
            </a:r>
            <a:endParaRPr b="0" i="0" sz="1000" u="none" cap="none" strike="noStrike">
              <a:solidFill>
                <a:schemeClr val="dk1"/>
              </a:solidFill>
              <a:latin typeface="Calibri"/>
              <a:ea typeface="Calibri"/>
              <a:cs typeface="Calibri"/>
              <a:sym typeface="Calibri"/>
            </a:endParaRPr>
          </a:p>
        </p:txBody>
      </p:sp>
      <p:sp>
        <p:nvSpPr>
          <p:cNvPr id="46" name="Google Shape;46;p4"/>
          <p:cNvSpPr txBox="1"/>
          <p:nvPr/>
        </p:nvSpPr>
        <p:spPr>
          <a:xfrm>
            <a:off x="731520" y="3840480"/>
            <a:ext cx="7680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0" i="1" lang="en-US" sz="1600" u="none" cap="none" strike="noStrike">
                <a:solidFill>
                  <a:srgbClr val="FFFFFF"/>
                </a:solidFill>
                <a:latin typeface="Cambria"/>
                <a:ea typeface="Cambria"/>
                <a:cs typeface="Cambria"/>
                <a:sym typeface="Cambria"/>
              </a:rPr>
              <a:t>Why might public-feedback channels exist while young citizens still doubt that their voices create meaningful influence?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5"/>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RESEARCH QUESTION</a:t>
            </a:r>
            <a:endParaRPr b="0" i="0" sz="1000" u="none" cap="none" strike="noStrike">
              <a:solidFill>
                <a:schemeClr val="dk1"/>
              </a:solidFill>
              <a:latin typeface="Calibri"/>
              <a:ea typeface="Calibri"/>
              <a:cs typeface="Calibri"/>
              <a:sym typeface="Calibri"/>
            </a:endParaRPr>
          </a:p>
        </p:txBody>
      </p:sp>
      <p:sp>
        <p:nvSpPr>
          <p:cNvPr id="53" name="Google Shape;53;p5"/>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What I am asking</a:t>
            </a:r>
            <a:endParaRPr b="0" i="0" sz="2800" u="none" cap="none" strike="noStrike">
              <a:solidFill>
                <a:schemeClr val="dk1"/>
              </a:solidFill>
              <a:latin typeface="Calibri"/>
              <a:ea typeface="Calibri"/>
              <a:cs typeface="Calibri"/>
              <a:sym typeface="Calibri"/>
            </a:endParaRPr>
          </a:p>
        </p:txBody>
      </p:sp>
      <p:sp>
        <p:nvSpPr>
          <p:cNvPr id="54" name="Google Shape;54;p5"/>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55" name="Google Shape;55;p5"/>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56" name="Google Shape;56;p5"/>
          <p:cNvSpPr/>
          <p:nvPr/>
        </p:nvSpPr>
        <p:spPr>
          <a:xfrm>
            <a:off x="457200" y="1371600"/>
            <a:ext cx="8229600" cy="1600200"/>
          </a:xfrm>
          <a:prstGeom prst="roundRect">
            <a:avLst>
              <a:gd fmla="val 5714"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txBox="1"/>
          <p:nvPr/>
        </p:nvSpPr>
        <p:spPr>
          <a:xfrm>
            <a:off x="731520" y="1481328"/>
            <a:ext cx="768096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700"/>
              <a:buFont typeface="Cambria"/>
              <a:buNone/>
            </a:pPr>
            <a:r>
              <a:rPr b="0" i="1" lang="en-US" sz="1700" u="none" cap="none" strike="noStrike">
                <a:solidFill>
                  <a:srgbClr val="0B2447"/>
                </a:solidFill>
                <a:latin typeface="Cambria"/>
                <a:ea typeface="Cambria"/>
                <a:cs typeface="Cambria"/>
                <a:sym typeface="Cambria"/>
              </a:rPr>
              <a:t>“How do undergraduate students in Astana interpret the idea of a “Listening State,” and what criteria do they use to assess whether public-feedback channels influence government decisions in Kazakhstan in 2026?”</a:t>
            </a:r>
            <a:endParaRPr b="0" i="0" sz="1700" u="none" cap="none" strike="noStrike">
              <a:solidFill>
                <a:schemeClr val="dk1"/>
              </a:solidFill>
              <a:latin typeface="Calibri"/>
              <a:ea typeface="Calibri"/>
              <a:cs typeface="Calibri"/>
              <a:sym typeface="Calibri"/>
            </a:endParaRPr>
          </a:p>
        </p:txBody>
      </p:sp>
      <p:sp>
        <p:nvSpPr>
          <p:cNvPr id="58" name="Google Shape;58;p5"/>
          <p:cNvSpPr txBox="1"/>
          <p:nvPr/>
        </p:nvSpPr>
        <p:spPr>
          <a:xfrm>
            <a:off x="457200" y="315468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KEY FOCUS AREAS</a:t>
            </a:r>
            <a:endParaRPr b="0" i="0" sz="1000" u="none" cap="none" strike="noStrike">
              <a:solidFill>
                <a:schemeClr val="dk1"/>
              </a:solidFill>
              <a:latin typeface="Calibri"/>
              <a:ea typeface="Calibri"/>
              <a:cs typeface="Calibri"/>
              <a:sym typeface="Calibri"/>
            </a:endParaRPr>
          </a:p>
        </p:txBody>
      </p:sp>
      <p:sp>
        <p:nvSpPr>
          <p:cNvPr id="59" name="Google Shape;59;p5"/>
          <p:cNvSpPr/>
          <p:nvPr/>
        </p:nvSpPr>
        <p:spPr>
          <a:xfrm>
            <a:off x="457200" y="3429000"/>
            <a:ext cx="1920240" cy="1188720"/>
          </a:xfrm>
          <a:prstGeom prst="roundRect">
            <a:avLst>
              <a:gd fmla="val 7692"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nvSpPr>
        <p:spPr>
          <a:xfrm>
            <a:off x="594360" y="3547872"/>
            <a:ext cx="1645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POPULATION</a:t>
            </a:r>
            <a:endParaRPr b="0" i="0" sz="1000" u="none" cap="none" strike="noStrike">
              <a:solidFill>
                <a:schemeClr val="dk1"/>
              </a:solidFill>
              <a:latin typeface="Calibri"/>
              <a:ea typeface="Calibri"/>
              <a:cs typeface="Calibri"/>
              <a:sym typeface="Calibri"/>
            </a:endParaRPr>
          </a:p>
        </p:txBody>
      </p:sp>
      <p:sp>
        <p:nvSpPr>
          <p:cNvPr id="61" name="Google Shape;61;p5"/>
          <p:cNvSpPr txBox="1"/>
          <p:nvPr/>
        </p:nvSpPr>
        <p:spPr>
          <a:xfrm>
            <a:off x="594360" y="3794760"/>
            <a:ext cx="1645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Undergraduate students in Astana.</a:t>
            </a:r>
            <a:endParaRPr b="0" i="0" sz="1200" u="none" cap="none" strike="noStrike">
              <a:solidFill>
                <a:schemeClr val="dk1"/>
              </a:solidFill>
              <a:latin typeface="Calibri"/>
              <a:ea typeface="Calibri"/>
              <a:cs typeface="Calibri"/>
              <a:sym typeface="Calibri"/>
            </a:endParaRPr>
          </a:p>
        </p:txBody>
      </p:sp>
      <p:sp>
        <p:nvSpPr>
          <p:cNvPr id="62" name="Google Shape;62;p5"/>
          <p:cNvSpPr/>
          <p:nvPr/>
        </p:nvSpPr>
        <p:spPr>
          <a:xfrm>
            <a:off x="2560320" y="3429000"/>
            <a:ext cx="1920240" cy="1188720"/>
          </a:xfrm>
          <a:prstGeom prst="roundRect">
            <a:avLst>
              <a:gd fmla="val 7692"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txBox="1"/>
          <p:nvPr/>
        </p:nvSpPr>
        <p:spPr>
          <a:xfrm>
            <a:off x="2697480" y="3547872"/>
            <a:ext cx="1645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PHENOMENON</a:t>
            </a:r>
            <a:endParaRPr b="0" i="0" sz="1000" u="none" cap="none" strike="noStrike">
              <a:solidFill>
                <a:schemeClr val="dk1"/>
              </a:solidFill>
              <a:latin typeface="Calibri"/>
              <a:ea typeface="Calibri"/>
              <a:cs typeface="Calibri"/>
              <a:sym typeface="Calibri"/>
            </a:endParaRPr>
          </a:p>
        </p:txBody>
      </p:sp>
      <p:sp>
        <p:nvSpPr>
          <p:cNvPr id="64" name="Google Shape;64;p5"/>
          <p:cNvSpPr txBox="1"/>
          <p:nvPr/>
        </p:nvSpPr>
        <p:spPr>
          <a:xfrm>
            <a:off x="2697480" y="3794760"/>
            <a:ext cx="1645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Interpretations of government responsiveness and citizen influence.</a:t>
            </a:r>
            <a:endParaRPr b="0" i="0" sz="1200" u="none" cap="none" strike="noStrike">
              <a:solidFill>
                <a:schemeClr val="dk1"/>
              </a:solidFill>
              <a:latin typeface="Calibri"/>
              <a:ea typeface="Calibri"/>
              <a:cs typeface="Calibri"/>
              <a:sym typeface="Calibri"/>
            </a:endParaRPr>
          </a:p>
        </p:txBody>
      </p:sp>
      <p:sp>
        <p:nvSpPr>
          <p:cNvPr id="65" name="Google Shape;65;p5"/>
          <p:cNvSpPr/>
          <p:nvPr/>
        </p:nvSpPr>
        <p:spPr>
          <a:xfrm>
            <a:off x="4663440" y="3429000"/>
            <a:ext cx="1920240" cy="1188720"/>
          </a:xfrm>
          <a:prstGeom prst="roundRect">
            <a:avLst>
              <a:gd fmla="val 7692"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txBox="1"/>
          <p:nvPr/>
        </p:nvSpPr>
        <p:spPr>
          <a:xfrm>
            <a:off x="4800600" y="3547872"/>
            <a:ext cx="1645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CONTEXT</a:t>
            </a:r>
            <a:endParaRPr b="0" i="0" sz="1000" u="none" cap="none" strike="noStrike">
              <a:solidFill>
                <a:schemeClr val="dk1"/>
              </a:solidFill>
              <a:latin typeface="Calibri"/>
              <a:ea typeface="Calibri"/>
              <a:cs typeface="Calibri"/>
              <a:sym typeface="Calibri"/>
            </a:endParaRPr>
          </a:p>
        </p:txBody>
      </p:sp>
      <p:sp>
        <p:nvSpPr>
          <p:cNvPr id="67" name="Google Shape;67;p5"/>
          <p:cNvSpPr txBox="1"/>
          <p:nvPr/>
        </p:nvSpPr>
        <p:spPr>
          <a:xfrm>
            <a:off x="4800600" y="3794760"/>
            <a:ext cx="1645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Public-feedback and participation channels in Kazakhstan.</a:t>
            </a:r>
            <a:endParaRPr b="0" i="0" sz="1200" u="none" cap="none" strike="noStrike">
              <a:solidFill>
                <a:schemeClr val="dk1"/>
              </a:solidFill>
              <a:latin typeface="Calibri"/>
              <a:ea typeface="Calibri"/>
              <a:cs typeface="Calibri"/>
              <a:sym typeface="Calibri"/>
            </a:endParaRPr>
          </a:p>
        </p:txBody>
      </p:sp>
      <p:sp>
        <p:nvSpPr>
          <p:cNvPr id="68" name="Google Shape;68;p5"/>
          <p:cNvSpPr/>
          <p:nvPr/>
        </p:nvSpPr>
        <p:spPr>
          <a:xfrm>
            <a:off x="6766560" y="3429000"/>
            <a:ext cx="1920240" cy="1188720"/>
          </a:xfrm>
          <a:prstGeom prst="roundRect">
            <a:avLst>
              <a:gd fmla="val 7692"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txBox="1"/>
          <p:nvPr/>
        </p:nvSpPr>
        <p:spPr>
          <a:xfrm>
            <a:off x="6903720" y="3547872"/>
            <a:ext cx="1645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TIME</a:t>
            </a:r>
            <a:endParaRPr b="0" i="0" sz="1000" u="none" cap="none" strike="noStrike">
              <a:solidFill>
                <a:schemeClr val="dk1"/>
              </a:solidFill>
              <a:latin typeface="Calibri"/>
              <a:ea typeface="Calibri"/>
              <a:cs typeface="Calibri"/>
              <a:sym typeface="Calibri"/>
            </a:endParaRPr>
          </a:p>
        </p:txBody>
      </p:sp>
      <p:sp>
        <p:nvSpPr>
          <p:cNvPr id="70" name="Google Shape;70;p5"/>
          <p:cNvSpPr txBox="1"/>
          <p:nvPr/>
        </p:nvSpPr>
        <p:spPr>
          <a:xfrm>
            <a:off x="6903720" y="3794760"/>
            <a:ext cx="1645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Students’ perspectives in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6"/>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EPISTEMOLOGICAL POSITIONING</a:t>
            </a:r>
            <a:endParaRPr b="0" i="0" sz="1000" u="none" cap="none" strike="noStrike">
              <a:solidFill>
                <a:schemeClr val="dk1"/>
              </a:solidFill>
              <a:latin typeface="Calibri"/>
              <a:ea typeface="Calibri"/>
              <a:cs typeface="Calibri"/>
              <a:sym typeface="Calibri"/>
            </a:endParaRPr>
          </a:p>
        </p:txBody>
      </p:sp>
      <p:sp>
        <p:nvSpPr>
          <p:cNvPr id="77" name="Google Shape;77;p6"/>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Why interpretivism fits</a:t>
            </a:r>
            <a:endParaRPr b="0" i="0" sz="2800" u="none" cap="none" strike="noStrike">
              <a:solidFill>
                <a:schemeClr val="dk1"/>
              </a:solidFill>
              <a:latin typeface="Calibri"/>
              <a:ea typeface="Calibri"/>
              <a:cs typeface="Calibri"/>
              <a:sym typeface="Calibri"/>
            </a:endParaRPr>
          </a:p>
        </p:txBody>
      </p:sp>
      <p:sp>
        <p:nvSpPr>
          <p:cNvPr id="78" name="Google Shape;78;p6"/>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79" name="Google Shape;79;p6"/>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80" name="Google Shape;80;p6"/>
          <p:cNvSpPr/>
          <p:nvPr/>
        </p:nvSpPr>
        <p:spPr>
          <a:xfrm>
            <a:off x="457200" y="1371600"/>
            <a:ext cx="2926080" cy="3200400"/>
          </a:xfrm>
          <a:prstGeom prst="roundRect">
            <a:avLst>
              <a:gd fmla="val 3125"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txBox="1"/>
          <p:nvPr/>
        </p:nvSpPr>
        <p:spPr>
          <a:xfrm>
            <a:off x="731520" y="2240280"/>
            <a:ext cx="2377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Interpretivism</a:t>
            </a:r>
            <a:endParaRPr b="0" i="0" sz="2600" u="none" cap="none" strike="noStrike">
              <a:solidFill>
                <a:schemeClr val="dk1"/>
              </a:solidFill>
              <a:latin typeface="Calibri"/>
              <a:ea typeface="Calibri"/>
              <a:cs typeface="Calibri"/>
              <a:sym typeface="Calibri"/>
            </a:endParaRPr>
          </a:p>
        </p:txBody>
      </p:sp>
      <p:sp>
        <p:nvSpPr>
          <p:cNvPr id="82" name="Google Shape;82;p6"/>
          <p:cNvSpPr txBox="1"/>
          <p:nvPr/>
        </p:nvSpPr>
        <p:spPr>
          <a:xfrm>
            <a:off x="731520" y="2834640"/>
            <a:ext cx="23774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500"/>
              <a:buFont typeface="Calibri"/>
              <a:buNone/>
            </a:pPr>
            <a:r>
              <a:rPr b="0" i="0" lang="en-US" sz="1500" u="none" cap="none" strike="noStrike">
                <a:solidFill>
                  <a:srgbClr val="A9CBEE"/>
                </a:solidFill>
                <a:latin typeface="Calibri"/>
                <a:ea typeface="Calibri"/>
                <a:cs typeface="Calibri"/>
                <a:sym typeface="Calibri"/>
              </a:rPr>
              <a:t>Why this approach fits</a:t>
            </a:r>
            <a:endParaRPr b="0" i="0" sz="1500" u="none" cap="none" strike="noStrike">
              <a:solidFill>
                <a:schemeClr val="dk1"/>
              </a:solidFill>
              <a:latin typeface="Calibri"/>
              <a:ea typeface="Calibri"/>
              <a:cs typeface="Calibri"/>
              <a:sym typeface="Calibri"/>
            </a:endParaRPr>
          </a:p>
        </p:txBody>
      </p:sp>
      <p:sp>
        <p:nvSpPr>
          <p:cNvPr id="83" name="Google Shape;83;p6"/>
          <p:cNvSpPr/>
          <p:nvPr/>
        </p:nvSpPr>
        <p:spPr>
          <a:xfrm>
            <a:off x="3657600" y="1371600"/>
            <a:ext cx="5029200" cy="1005840"/>
          </a:xfrm>
          <a:prstGeom prst="roundRect">
            <a:avLst>
              <a:gd fmla="val 909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3840480" y="1645920"/>
            <a:ext cx="457200" cy="457200"/>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txBox="1"/>
          <p:nvPr/>
        </p:nvSpPr>
        <p:spPr>
          <a:xfrm>
            <a:off x="384048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86" name="Google Shape;86;p6"/>
          <p:cNvSpPr txBox="1"/>
          <p:nvPr/>
        </p:nvSpPr>
        <p:spPr>
          <a:xfrm>
            <a:off x="4526280" y="1481328"/>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Meaning over measurement</a:t>
            </a:r>
            <a:endParaRPr b="0" i="0" sz="1500" u="none" cap="none" strike="noStrike">
              <a:solidFill>
                <a:schemeClr val="dk1"/>
              </a:solidFill>
              <a:latin typeface="Calibri"/>
              <a:ea typeface="Calibri"/>
              <a:cs typeface="Calibri"/>
              <a:sym typeface="Calibri"/>
            </a:endParaRPr>
          </a:p>
        </p:txBody>
      </p:sp>
      <p:sp>
        <p:nvSpPr>
          <p:cNvPr id="87" name="Google Shape;87;p6"/>
          <p:cNvSpPr txBox="1"/>
          <p:nvPr/>
        </p:nvSpPr>
        <p:spPr>
          <a:xfrm>
            <a:off x="4526280" y="1764792"/>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The study examines how students interpret “being heard,” not only how many feedback submissions exist.</a:t>
            </a:r>
            <a:endParaRPr b="0" i="0" sz="1250" u="none" cap="none" strike="noStrike">
              <a:solidFill>
                <a:schemeClr val="dk1"/>
              </a:solidFill>
              <a:latin typeface="Calibri"/>
              <a:ea typeface="Calibri"/>
              <a:cs typeface="Calibri"/>
              <a:sym typeface="Calibri"/>
            </a:endParaRPr>
          </a:p>
        </p:txBody>
      </p:sp>
      <p:sp>
        <p:nvSpPr>
          <p:cNvPr id="88" name="Google Shape;88;p6"/>
          <p:cNvSpPr/>
          <p:nvPr/>
        </p:nvSpPr>
        <p:spPr>
          <a:xfrm>
            <a:off x="3657600" y="2468880"/>
            <a:ext cx="5029200" cy="1005840"/>
          </a:xfrm>
          <a:prstGeom prst="roundRect">
            <a:avLst>
              <a:gd fmla="val 909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3840480" y="2743200"/>
            <a:ext cx="457200" cy="457200"/>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txBox="1"/>
          <p:nvPr/>
        </p:nvSpPr>
        <p:spPr>
          <a:xfrm>
            <a:off x="3840480" y="27432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91" name="Google Shape;91;p6"/>
          <p:cNvSpPr txBox="1"/>
          <p:nvPr/>
        </p:nvSpPr>
        <p:spPr>
          <a:xfrm>
            <a:off x="4526280" y="2578608"/>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Multiple meanings</a:t>
            </a:r>
            <a:endParaRPr b="0" i="0" sz="1500" u="none" cap="none" strike="noStrike">
              <a:solidFill>
                <a:schemeClr val="dk1"/>
              </a:solidFill>
              <a:latin typeface="Calibri"/>
              <a:ea typeface="Calibri"/>
              <a:cs typeface="Calibri"/>
              <a:sym typeface="Calibri"/>
            </a:endParaRPr>
          </a:p>
        </p:txBody>
      </p:sp>
      <p:sp>
        <p:nvSpPr>
          <p:cNvPr id="92" name="Google Shape;92;p6"/>
          <p:cNvSpPr txBox="1"/>
          <p:nvPr/>
        </p:nvSpPr>
        <p:spPr>
          <a:xfrm>
            <a:off x="4526280" y="2862072"/>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Responsiveness may mean an official reply to one student and visible policy change to another.</a:t>
            </a:r>
            <a:endParaRPr b="0" i="0" sz="1250" u="none" cap="none" strike="noStrike">
              <a:solidFill>
                <a:schemeClr val="dk1"/>
              </a:solidFill>
              <a:latin typeface="Calibri"/>
              <a:ea typeface="Calibri"/>
              <a:cs typeface="Calibri"/>
              <a:sym typeface="Calibri"/>
            </a:endParaRPr>
          </a:p>
        </p:txBody>
      </p:sp>
      <p:sp>
        <p:nvSpPr>
          <p:cNvPr id="93" name="Google Shape;93;p6"/>
          <p:cNvSpPr/>
          <p:nvPr/>
        </p:nvSpPr>
        <p:spPr>
          <a:xfrm>
            <a:off x="3657600" y="3566160"/>
            <a:ext cx="5029200" cy="1005840"/>
          </a:xfrm>
          <a:prstGeom prst="roundRect">
            <a:avLst>
              <a:gd fmla="val 909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3840480" y="3840480"/>
            <a:ext cx="457200" cy="457200"/>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
          <p:cNvSpPr txBox="1"/>
          <p:nvPr/>
        </p:nvSpPr>
        <p:spPr>
          <a:xfrm>
            <a:off x="3840480" y="3840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96" name="Google Shape;96;p6"/>
          <p:cNvSpPr txBox="1"/>
          <p:nvPr/>
        </p:nvSpPr>
        <p:spPr>
          <a:xfrm>
            <a:off x="4526280" y="3675888"/>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Agency and context</a:t>
            </a:r>
            <a:endParaRPr b="0" i="0" sz="1500" u="none" cap="none" strike="noStrike">
              <a:solidFill>
                <a:schemeClr val="dk1"/>
              </a:solidFill>
              <a:latin typeface="Calibri"/>
              <a:ea typeface="Calibri"/>
              <a:cs typeface="Calibri"/>
              <a:sym typeface="Calibri"/>
            </a:endParaRPr>
          </a:p>
        </p:txBody>
      </p:sp>
      <p:sp>
        <p:nvSpPr>
          <p:cNvPr id="97" name="Google Shape;97;p6"/>
          <p:cNvSpPr txBox="1"/>
          <p:nvPr/>
        </p:nvSpPr>
        <p:spPr>
          <a:xfrm>
            <a:off x="4526280" y="3959352"/>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Students’ interpretations may be shaped by trust, experience, political interest, and social context.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7"/>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CONTRIBUTION</a:t>
            </a:r>
            <a:endParaRPr b="0" i="0" sz="1000" u="none" cap="none" strike="noStrike">
              <a:solidFill>
                <a:schemeClr val="dk1"/>
              </a:solidFill>
              <a:latin typeface="Calibri"/>
              <a:ea typeface="Calibri"/>
              <a:cs typeface="Calibri"/>
              <a:sym typeface="Calibri"/>
            </a:endParaRPr>
          </a:p>
        </p:txBody>
      </p:sp>
      <p:sp>
        <p:nvSpPr>
          <p:cNvPr id="104" name="Google Shape;104;p7"/>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Three contributions</a:t>
            </a:r>
            <a:endParaRPr b="0" i="0" sz="2800" u="none" cap="none" strike="noStrike">
              <a:solidFill>
                <a:schemeClr val="dk1"/>
              </a:solidFill>
              <a:latin typeface="Calibri"/>
              <a:ea typeface="Calibri"/>
              <a:cs typeface="Calibri"/>
              <a:sym typeface="Calibri"/>
            </a:endParaRPr>
          </a:p>
        </p:txBody>
      </p:sp>
      <p:sp>
        <p:nvSpPr>
          <p:cNvPr id="105" name="Google Shape;105;p7"/>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106" name="Google Shape;106;p7"/>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07" name="Google Shape;107;p7"/>
          <p:cNvSpPr/>
          <p:nvPr/>
        </p:nvSpPr>
        <p:spPr>
          <a:xfrm>
            <a:off x="457200" y="1371600"/>
            <a:ext cx="2651760" cy="3200400"/>
          </a:xfrm>
          <a:prstGeom prst="roundRect">
            <a:avLst>
              <a:gd fmla="val 3448"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txBox="1"/>
          <p:nvPr/>
        </p:nvSpPr>
        <p:spPr>
          <a:xfrm>
            <a:off x="685800" y="1508760"/>
            <a:ext cx="914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4400"/>
              <a:buFont typeface="Cambria"/>
              <a:buNone/>
            </a:pPr>
            <a:r>
              <a:rPr b="1" i="0" lang="en-US" sz="4400" u="none" cap="none" strike="noStrike">
                <a:solidFill>
                  <a:srgbClr val="1F5AA6"/>
                </a:solidFill>
                <a:latin typeface="Cambria"/>
                <a:ea typeface="Cambria"/>
                <a:cs typeface="Cambria"/>
                <a:sym typeface="Cambria"/>
              </a:rPr>
              <a:t>1</a:t>
            </a:r>
            <a:endParaRPr b="0" i="0" sz="4400" u="none" cap="none" strike="noStrike">
              <a:solidFill>
                <a:schemeClr val="dk1"/>
              </a:solidFill>
              <a:latin typeface="Calibri"/>
              <a:ea typeface="Calibri"/>
              <a:cs typeface="Calibri"/>
              <a:sym typeface="Calibri"/>
            </a:endParaRPr>
          </a:p>
        </p:txBody>
      </p:sp>
      <p:sp>
        <p:nvSpPr>
          <p:cNvPr id="109" name="Google Shape;109;p7"/>
          <p:cNvSpPr txBox="1"/>
          <p:nvPr/>
        </p:nvSpPr>
        <p:spPr>
          <a:xfrm>
            <a:off x="685800" y="2331720"/>
            <a:ext cx="22402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600"/>
              <a:buFont typeface="Calibri"/>
              <a:buNone/>
            </a:pPr>
            <a:r>
              <a:rPr b="1" i="0" lang="en-US" sz="1600" u="none" cap="none" strike="noStrike">
                <a:solidFill>
                  <a:srgbClr val="0B2447"/>
                </a:solidFill>
                <a:latin typeface="Calibri"/>
                <a:ea typeface="Calibri"/>
                <a:cs typeface="Calibri"/>
                <a:sym typeface="Calibri"/>
              </a:rPr>
              <a:t>From institutions to citizens</a:t>
            </a:r>
            <a:endParaRPr b="0" i="0" sz="1600" u="none" cap="none" strike="noStrike">
              <a:solidFill>
                <a:schemeClr val="dk1"/>
              </a:solidFill>
              <a:latin typeface="Calibri"/>
              <a:ea typeface="Calibri"/>
              <a:cs typeface="Calibri"/>
              <a:sym typeface="Calibri"/>
            </a:endParaRPr>
          </a:p>
        </p:txBody>
      </p:sp>
      <p:sp>
        <p:nvSpPr>
          <p:cNvPr id="110" name="Google Shape;110;p7"/>
          <p:cNvSpPr txBox="1"/>
          <p:nvPr/>
        </p:nvSpPr>
        <p:spPr>
          <a:xfrm>
            <a:off x="685800" y="3017520"/>
            <a:ext cx="224028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00"/>
              <a:buFont typeface="Calibri"/>
              <a:buNone/>
            </a:pPr>
            <a:r>
              <a:rPr b="0" i="0" lang="en-US" sz="1300" u="none" cap="none" strike="noStrike">
                <a:solidFill>
                  <a:srgbClr val="14243B"/>
                </a:solidFill>
                <a:latin typeface="Calibri"/>
                <a:ea typeface="Calibri"/>
                <a:cs typeface="Calibri"/>
                <a:sym typeface="Calibri"/>
              </a:rPr>
              <a:t>Shifts attention from the design of feedback institutions to how citizens interpret them.</a:t>
            </a:r>
            <a:endParaRPr b="0" i="0" sz="1300" u="none" cap="none" strike="noStrike">
              <a:solidFill>
                <a:schemeClr val="dk1"/>
              </a:solidFill>
              <a:latin typeface="Calibri"/>
              <a:ea typeface="Calibri"/>
              <a:cs typeface="Calibri"/>
              <a:sym typeface="Calibri"/>
            </a:endParaRPr>
          </a:p>
        </p:txBody>
      </p:sp>
      <p:sp>
        <p:nvSpPr>
          <p:cNvPr id="111" name="Google Shape;111;p7"/>
          <p:cNvSpPr/>
          <p:nvPr/>
        </p:nvSpPr>
        <p:spPr>
          <a:xfrm>
            <a:off x="3246120" y="1371600"/>
            <a:ext cx="2651760" cy="3200400"/>
          </a:xfrm>
          <a:prstGeom prst="roundRect">
            <a:avLst>
              <a:gd fmla="val 3448"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txBox="1"/>
          <p:nvPr/>
        </p:nvSpPr>
        <p:spPr>
          <a:xfrm>
            <a:off x="3474720" y="1508760"/>
            <a:ext cx="914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4400"/>
              <a:buFont typeface="Cambria"/>
              <a:buNone/>
            </a:pPr>
            <a:r>
              <a:rPr b="1" i="0" lang="en-US" sz="4400" u="none" cap="none" strike="noStrike">
                <a:solidFill>
                  <a:srgbClr val="1F5AA6"/>
                </a:solidFill>
                <a:latin typeface="Cambria"/>
                <a:ea typeface="Cambria"/>
                <a:cs typeface="Cambria"/>
                <a:sym typeface="Cambria"/>
              </a:rPr>
              <a:t>2</a:t>
            </a:r>
            <a:endParaRPr b="0" i="0" sz="4400" u="none" cap="none" strike="noStrike">
              <a:solidFill>
                <a:schemeClr val="dk1"/>
              </a:solidFill>
              <a:latin typeface="Calibri"/>
              <a:ea typeface="Calibri"/>
              <a:cs typeface="Calibri"/>
              <a:sym typeface="Calibri"/>
            </a:endParaRPr>
          </a:p>
        </p:txBody>
      </p:sp>
      <p:sp>
        <p:nvSpPr>
          <p:cNvPr id="113" name="Google Shape;113;p7"/>
          <p:cNvSpPr txBox="1"/>
          <p:nvPr/>
        </p:nvSpPr>
        <p:spPr>
          <a:xfrm>
            <a:off x="3474720" y="2331720"/>
            <a:ext cx="22402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600"/>
              <a:buFont typeface="Calibri"/>
              <a:buNone/>
            </a:pPr>
            <a:r>
              <a:rPr b="1" i="0" lang="en-US" sz="1600" u="none" cap="none" strike="noStrike">
                <a:solidFill>
                  <a:srgbClr val="0B2447"/>
                </a:solidFill>
                <a:latin typeface="Calibri"/>
                <a:ea typeface="Calibri"/>
                <a:cs typeface="Calibri"/>
                <a:sym typeface="Calibri"/>
              </a:rPr>
              <a:t>Feedback and political efficacy</a:t>
            </a:r>
            <a:endParaRPr b="0" i="0" sz="1600" u="none" cap="none" strike="noStrike">
              <a:solidFill>
                <a:schemeClr val="dk1"/>
              </a:solidFill>
              <a:latin typeface="Calibri"/>
              <a:ea typeface="Calibri"/>
              <a:cs typeface="Calibri"/>
              <a:sym typeface="Calibri"/>
            </a:endParaRPr>
          </a:p>
        </p:txBody>
      </p:sp>
      <p:sp>
        <p:nvSpPr>
          <p:cNvPr id="114" name="Google Shape;114;p7"/>
          <p:cNvSpPr txBox="1"/>
          <p:nvPr/>
        </p:nvSpPr>
        <p:spPr>
          <a:xfrm>
            <a:off x="3474720" y="3017520"/>
            <a:ext cx="224028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00"/>
              <a:buFont typeface="Calibri"/>
              <a:buNone/>
            </a:pPr>
            <a:r>
              <a:rPr b="0" i="0" lang="en-US" sz="1300" u="none" cap="none" strike="noStrike">
                <a:solidFill>
                  <a:srgbClr val="14243B"/>
                </a:solidFill>
                <a:latin typeface="Calibri"/>
                <a:ea typeface="Calibri"/>
                <a:cs typeface="Calibri"/>
                <a:sym typeface="Calibri"/>
              </a:rPr>
              <a:t>Examines whether students believe they can influence government decisions.</a:t>
            </a:r>
            <a:endParaRPr b="0" i="0" sz="1300" u="none" cap="none" strike="noStrike">
              <a:solidFill>
                <a:schemeClr val="dk1"/>
              </a:solidFill>
              <a:latin typeface="Calibri"/>
              <a:ea typeface="Calibri"/>
              <a:cs typeface="Calibri"/>
              <a:sym typeface="Calibri"/>
            </a:endParaRPr>
          </a:p>
        </p:txBody>
      </p:sp>
      <p:sp>
        <p:nvSpPr>
          <p:cNvPr id="115" name="Google Shape;115;p7"/>
          <p:cNvSpPr/>
          <p:nvPr/>
        </p:nvSpPr>
        <p:spPr>
          <a:xfrm>
            <a:off x="6035040" y="1371600"/>
            <a:ext cx="2651760" cy="3200400"/>
          </a:xfrm>
          <a:prstGeom prst="roundRect">
            <a:avLst>
              <a:gd fmla="val 3448"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txBox="1"/>
          <p:nvPr/>
        </p:nvSpPr>
        <p:spPr>
          <a:xfrm>
            <a:off x="6263640" y="1508760"/>
            <a:ext cx="914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4400"/>
              <a:buFont typeface="Cambria"/>
              <a:buNone/>
            </a:pPr>
            <a:r>
              <a:rPr b="1" i="0" lang="en-US" sz="4400" u="none" cap="none" strike="noStrike">
                <a:solidFill>
                  <a:srgbClr val="1F5AA6"/>
                </a:solidFill>
                <a:latin typeface="Cambria"/>
                <a:ea typeface="Cambria"/>
                <a:cs typeface="Cambria"/>
                <a:sym typeface="Cambria"/>
              </a:rPr>
              <a:t>3</a:t>
            </a:r>
            <a:endParaRPr b="0" i="0" sz="4400" u="none" cap="none" strike="noStrike">
              <a:solidFill>
                <a:schemeClr val="dk1"/>
              </a:solidFill>
              <a:latin typeface="Calibri"/>
              <a:ea typeface="Calibri"/>
              <a:cs typeface="Calibri"/>
              <a:sym typeface="Calibri"/>
            </a:endParaRPr>
          </a:p>
        </p:txBody>
      </p:sp>
      <p:sp>
        <p:nvSpPr>
          <p:cNvPr id="117" name="Google Shape;117;p7"/>
          <p:cNvSpPr txBox="1"/>
          <p:nvPr/>
        </p:nvSpPr>
        <p:spPr>
          <a:xfrm>
            <a:off x="6263640" y="2331720"/>
            <a:ext cx="22402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600"/>
              <a:buFont typeface="Calibri"/>
              <a:buNone/>
            </a:pPr>
            <a:r>
              <a:rPr b="1" i="0" lang="en-US" sz="1600" u="none" cap="none" strike="noStrike">
                <a:solidFill>
                  <a:srgbClr val="0B2447"/>
                </a:solidFill>
                <a:latin typeface="Calibri"/>
                <a:ea typeface="Calibri"/>
                <a:cs typeface="Calibri"/>
                <a:sym typeface="Calibri"/>
              </a:rPr>
              <a:t>Youth perspective</a:t>
            </a:r>
            <a:endParaRPr b="0" i="0" sz="1600" u="none" cap="none" strike="noStrike">
              <a:solidFill>
                <a:schemeClr val="dk1"/>
              </a:solidFill>
              <a:latin typeface="Calibri"/>
              <a:ea typeface="Calibri"/>
              <a:cs typeface="Calibri"/>
              <a:sym typeface="Calibri"/>
            </a:endParaRPr>
          </a:p>
        </p:txBody>
      </p:sp>
      <p:sp>
        <p:nvSpPr>
          <p:cNvPr id="118" name="Google Shape;118;p7"/>
          <p:cNvSpPr txBox="1"/>
          <p:nvPr/>
        </p:nvSpPr>
        <p:spPr>
          <a:xfrm>
            <a:off x="6263640" y="3017520"/>
            <a:ext cx="224028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00"/>
              <a:buFont typeface="Calibri"/>
              <a:buNone/>
            </a:pPr>
            <a:r>
              <a:rPr b="0" i="0" lang="en-US" sz="1300" u="none" cap="none" strike="noStrike">
                <a:solidFill>
                  <a:srgbClr val="14243B"/>
                </a:solidFill>
                <a:latin typeface="Calibri"/>
                <a:ea typeface="Calibri"/>
                <a:cs typeface="Calibri"/>
                <a:sym typeface="Calibri"/>
              </a:rPr>
              <a:t>Provides a situated account of how undergraduate students in Astana understand political participation in Kazakhstan.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8"/>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LITERATURE REVIEW</a:t>
            </a:r>
            <a:endParaRPr b="0" i="0" sz="1000" u="none" cap="none" strike="noStrike">
              <a:solidFill>
                <a:schemeClr val="dk1"/>
              </a:solidFill>
              <a:latin typeface="Calibri"/>
              <a:ea typeface="Calibri"/>
              <a:cs typeface="Calibri"/>
              <a:sym typeface="Calibri"/>
            </a:endParaRPr>
          </a:p>
        </p:txBody>
      </p:sp>
      <p:sp>
        <p:nvSpPr>
          <p:cNvPr id="125" name="Google Shape;125;p8"/>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Five scholarly sources, one conversation</a:t>
            </a:r>
            <a:endParaRPr b="0" i="0" sz="2800" u="none" cap="none" strike="noStrike">
              <a:solidFill>
                <a:schemeClr val="dk1"/>
              </a:solidFill>
              <a:latin typeface="Calibri"/>
              <a:ea typeface="Calibri"/>
              <a:cs typeface="Calibri"/>
              <a:sym typeface="Calibri"/>
            </a:endParaRPr>
          </a:p>
        </p:txBody>
      </p:sp>
      <p:sp>
        <p:nvSpPr>
          <p:cNvPr id="126" name="Google Shape;126;p8"/>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127" name="Google Shape;127;p8"/>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28" name="Google Shape;128;p8"/>
          <p:cNvSpPr/>
          <p:nvPr/>
        </p:nvSpPr>
        <p:spPr>
          <a:xfrm>
            <a:off x="457200" y="1371600"/>
            <a:ext cx="4754880" cy="566928"/>
          </a:xfrm>
          <a:prstGeom prst="roundRect">
            <a:avLst>
              <a:gd fmla="val 12903"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640080" y="1371600"/>
            <a:ext cx="4480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00"/>
              <a:buFont typeface="Calibri"/>
              <a:buNone/>
            </a:pPr>
            <a:r>
              <a:rPr b="1" i="0" lang="en-US" sz="1300" u="none" cap="none" strike="noStrike">
                <a:solidFill>
                  <a:srgbClr val="0B2447"/>
                </a:solidFill>
                <a:latin typeface="Calibri"/>
                <a:ea typeface="Calibri"/>
                <a:cs typeface="Calibri"/>
                <a:sym typeface="Calibri"/>
              </a:rPr>
              <a:t>Smailova et al. (2025)</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4"/>
              </a:buClr>
              <a:buSzPts val="1150"/>
              <a:buFont typeface="Calibri"/>
              <a:buNone/>
            </a:pPr>
            <a:r>
              <a:rPr b="0" i="0" lang="en-US" sz="1150" u="none" cap="none" strike="noStrike">
                <a:solidFill>
                  <a:srgbClr val="5A6B84"/>
                </a:solidFill>
                <a:latin typeface="Calibri"/>
                <a:ea typeface="Calibri"/>
                <a:cs typeface="Calibri"/>
                <a:sym typeface="Calibri"/>
              </a:rPr>
              <a:t>Public-opinion monitoring and government responsiveness.</a:t>
            </a:r>
            <a:endParaRPr b="0" i="0" sz="1300" u="none" cap="none" strike="noStrike">
              <a:solidFill>
                <a:schemeClr val="dk1"/>
              </a:solidFill>
              <a:latin typeface="Calibri"/>
              <a:ea typeface="Calibri"/>
              <a:cs typeface="Calibri"/>
              <a:sym typeface="Calibri"/>
            </a:endParaRPr>
          </a:p>
        </p:txBody>
      </p:sp>
      <p:sp>
        <p:nvSpPr>
          <p:cNvPr id="130" name="Google Shape;130;p8"/>
          <p:cNvSpPr/>
          <p:nvPr/>
        </p:nvSpPr>
        <p:spPr>
          <a:xfrm>
            <a:off x="457200" y="2011680"/>
            <a:ext cx="4754880" cy="566928"/>
          </a:xfrm>
          <a:prstGeom prst="roundRect">
            <a:avLst>
              <a:gd fmla="val 12903"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txBox="1"/>
          <p:nvPr/>
        </p:nvSpPr>
        <p:spPr>
          <a:xfrm>
            <a:off x="640080" y="2011680"/>
            <a:ext cx="4480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00"/>
              <a:buFont typeface="Calibri"/>
              <a:buNone/>
            </a:pPr>
            <a:r>
              <a:rPr b="1" i="0" lang="en-US" sz="1300" u="none" cap="none" strike="noStrike">
                <a:solidFill>
                  <a:srgbClr val="0B2447"/>
                </a:solidFill>
                <a:latin typeface="Calibri"/>
                <a:ea typeface="Calibri"/>
                <a:cs typeface="Calibri"/>
                <a:sym typeface="Calibri"/>
              </a:rPr>
              <a:t>Knox &amp; Janenova (2018)</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4"/>
              </a:buClr>
              <a:buSzPts val="1150"/>
              <a:buFont typeface="Calibri"/>
              <a:buNone/>
            </a:pPr>
            <a:r>
              <a:rPr b="0" i="0" lang="en-US" sz="1150" u="none" cap="none" strike="noStrike">
                <a:solidFill>
                  <a:srgbClr val="5A6B84"/>
                </a:solidFill>
                <a:latin typeface="Calibri"/>
                <a:ea typeface="Calibri"/>
                <a:cs typeface="Calibri"/>
                <a:sym typeface="Calibri"/>
              </a:rPr>
              <a:t>Public Councils and participative democracy in Kazakhstan.</a:t>
            </a:r>
            <a:endParaRPr b="0" i="0" sz="1300" u="none" cap="none" strike="noStrike">
              <a:solidFill>
                <a:schemeClr val="dk1"/>
              </a:solidFill>
              <a:latin typeface="Calibri"/>
              <a:ea typeface="Calibri"/>
              <a:cs typeface="Calibri"/>
              <a:sym typeface="Calibri"/>
            </a:endParaRPr>
          </a:p>
        </p:txBody>
      </p:sp>
      <p:sp>
        <p:nvSpPr>
          <p:cNvPr id="132" name="Google Shape;132;p8"/>
          <p:cNvSpPr/>
          <p:nvPr/>
        </p:nvSpPr>
        <p:spPr>
          <a:xfrm>
            <a:off x="457200" y="2651760"/>
            <a:ext cx="4754880" cy="566928"/>
          </a:xfrm>
          <a:prstGeom prst="roundRect">
            <a:avLst>
              <a:gd fmla="val 12903"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txBox="1"/>
          <p:nvPr/>
        </p:nvSpPr>
        <p:spPr>
          <a:xfrm>
            <a:off x="640080" y="2651760"/>
            <a:ext cx="4480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00"/>
              <a:buFont typeface="Calibri"/>
              <a:buNone/>
            </a:pPr>
            <a:r>
              <a:rPr b="1" i="0" lang="en-US" sz="1300" u="none" cap="none" strike="noStrike">
                <a:solidFill>
                  <a:srgbClr val="0B2447"/>
                </a:solidFill>
                <a:latin typeface="Calibri"/>
                <a:ea typeface="Calibri"/>
                <a:cs typeface="Calibri"/>
                <a:sym typeface="Calibri"/>
              </a:rPr>
              <a:t>Makulbayeva &amp; Sharipova (2025)</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4"/>
              </a:buClr>
              <a:buSzPts val="1150"/>
              <a:buFont typeface="Calibri"/>
              <a:buNone/>
            </a:pPr>
            <a:r>
              <a:rPr b="0" i="0" lang="en-US" sz="1150" u="none" cap="none" strike="noStrike">
                <a:solidFill>
                  <a:srgbClr val="5A6B84"/>
                </a:solidFill>
                <a:latin typeface="Calibri"/>
                <a:ea typeface="Calibri"/>
                <a:cs typeface="Calibri"/>
                <a:sym typeface="Calibri"/>
              </a:rPr>
              <a:t>Public Councils and social capital.</a:t>
            </a:r>
            <a:endParaRPr b="0" i="0" sz="1300" u="none" cap="none" strike="noStrike">
              <a:solidFill>
                <a:schemeClr val="dk1"/>
              </a:solidFill>
              <a:latin typeface="Calibri"/>
              <a:ea typeface="Calibri"/>
              <a:cs typeface="Calibri"/>
              <a:sym typeface="Calibri"/>
            </a:endParaRPr>
          </a:p>
        </p:txBody>
      </p:sp>
      <p:sp>
        <p:nvSpPr>
          <p:cNvPr id="134" name="Google Shape;134;p8"/>
          <p:cNvSpPr/>
          <p:nvPr/>
        </p:nvSpPr>
        <p:spPr>
          <a:xfrm>
            <a:off x="457200" y="3291840"/>
            <a:ext cx="4754880" cy="566928"/>
          </a:xfrm>
          <a:prstGeom prst="roundRect">
            <a:avLst>
              <a:gd fmla="val 12903"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640080" y="3291840"/>
            <a:ext cx="4480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00"/>
              <a:buFont typeface="Calibri"/>
              <a:buNone/>
            </a:pPr>
            <a:r>
              <a:rPr b="1" i="0" lang="en-US" sz="1300" u="none" cap="none" strike="noStrike">
                <a:solidFill>
                  <a:srgbClr val="0B2447"/>
                </a:solidFill>
                <a:latin typeface="Calibri"/>
                <a:ea typeface="Calibri"/>
                <a:cs typeface="Calibri"/>
                <a:sym typeface="Calibri"/>
              </a:rPr>
              <a:t>Mussagulova &amp; Janenova (2025)</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4"/>
              </a:buClr>
              <a:buSzPts val="1150"/>
              <a:buFont typeface="Calibri"/>
              <a:buNone/>
            </a:pPr>
            <a:r>
              <a:rPr b="0" i="0" lang="en-US" sz="1150" u="none" cap="none" strike="noStrike">
                <a:solidFill>
                  <a:srgbClr val="5A6B84"/>
                </a:solidFill>
                <a:latin typeface="Calibri"/>
                <a:ea typeface="Calibri"/>
                <a:cs typeface="Calibri"/>
                <a:sym typeface="Calibri"/>
              </a:rPr>
              <a:t>Policy advisory systems and public participation.</a:t>
            </a:r>
            <a:endParaRPr b="0" i="0" sz="1300" u="none" cap="none" strike="noStrike">
              <a:solidFill>
                <a:schemeClr val="dk1"/>
              </a:solidFill>
              <a:latin typeface="Calibri"/>
              <a:ea typeface="Calibri"/>
              <a:cs typeface="Calibri"/>
              <a:sym typeface="Calibri"/>
            </a:endParaRPr>
          </a:p>
        </p:txBody>
      </p:sp>
      <p:sp>
        <p:nvSpPr>
          <p:cNvPr id="136" name="Google Shape;136;p8"/>
          <p:cNvSpPr/>
          <p:nvPr/>
        </p:nvSpPr>
        <p:spPr>
          <a:xfrm>
            <a:off x="457200" y="3931920"/>
            <a:ext cx="4754880" cy="566928"/>
          </a:xfrm>
          <a:prstGeom prst="roundRect">
            <a:avLst>
              <a:gd fmla="val 12903"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txBox="1"/>
          <p:nvPr/>
        </p:nvSpPr>
        <p:spPr>
          <a:xfrm>
            <a:off x="640080" y="3931920"/>
            <a:ext cx="44805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00"/>
              <a:buFont typeface="Calibri"/>
              <a:buNone/>
            </a:pPr>
            <a:r>
              <a:rPr b="1" i="0" lang="en-US" sz="1300" u="none" cap="none" strike="noStrike">
                <a:solidFill>
                  <a:srgbClr val="0B2447"/>
                </a:solidFill>
                <a:latin typeface="Calibri"/>
                <a:ea typeface="Calibri"/>
                <a:cs typeface="Calibri"/>
                <a:sym typeface="Calibri"/>
              </a:rPr>
              <a:t>Ekman &amp; Amnå (2012)</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B84"/>
              </a:buClr>
              <a:buSzPts val="1150"/>
              <a:buFont typeface="Calibri"/>
              <a:buNone/>
            </a:pPr>
            <a:r>
              <a:rPr b="0" i="0" lang="en-US" sz="1150" u="none" cap="none" strike="noStrike">
                <a:solidFill>
                  <a:srgbClr val="5A6B84"/>
                </a:solidFill>
                <a:latin typeface="Calibri"/>
                <a:ea typeface="Calibri"/>
                <a:cs typeface="Calibri"/>
                <a:sym typeface="Calibri"/>
              </a:rPr>
              <a:t>Political participation and civic engagement.</a:t>
            </a:r>
            <a:endParaRPr b="0" i="0" sz="1300" u="none" cap="none" strike="noStrike">
              <a:solidFill>
                <a:schemeClr val="dk1"/>
              </a:solidFill>
              <a:latin typeface="Calibri"/>
              <a:ea typeface="Calibri"/>
              <a:cs typeface="Calibri"/>
              <a:sym typeface="Calibri"/>
            </a:endParaRPr>
          </a:p>
        </p:txBody>
      </p:sp>
      <p:sp>
        <p:nvSpPr>
          <p:cNvPr id="138" name="Google Shape;138;p8"/>
          <p:cNvSpPr/>
          <p:nvPr/>
        </p:nvSpPr>
        <p:spPr>
          <a:xfrm>
            <a:off x="5440680" y="1371600"/>
            <a:ext cx="3246120" cy="3127248"/>
          </a:xfrm>
          <a:prstGeom prst="roundRect">
            <a:avLst>
              <a:gd fmla="val 2924"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nvSpPr>
        <p:spPr>
          <a:xfrm>
            <a:off x="5623560" y="1508760"/>
            <a:ext cx="292608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HOW THEY CONNECT</a:t>
            </a:r>
            <a:endParaRPr b="0" i="0" sz="1000" u="none" cap="none" strike="noStrike">
              <a:solidFill>
                <a:schemeClr val="dk1"/>
              </a:solidFill>
              <a:latin typeface="Calibri"/>
              <a:ea typeface="Calibri"/>
              <a:cs typeface="Calibri"/>
              <a:sym typeface="Calibri"/>
            </a:endParaRPr>
          </a:p>
        </p:txBody>
      </p:sp>
      <p:sp>
        <p:nvSpPr>
          <p:cNvPr id="140" name="Google Shape;140;p8"/>
          <p:cNvSpPr txBox="1"/>
          <p:nvPr/>
        </p:nvSpPr>
        <p:spPr>
          <a:xfrm>
            <a:off x="5623560" y="1783080"/>
            <a:ext cx="292608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What the state hears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9CBEE"/>
              </a:buClr>
              <a:buSzPts val="1050"/>
              <a:buFont typeface="Calibri"/>
              <a:buNone/>
            </a:pPr>
            <a:r>
              <a:rPr b="0" i="0" lang="en-US" sz="1050" u="none" cap="none" strike="noStrike">
                <a:solidFill>
                  <a:srgbClr val="A9CBEE"/>
                </a:solidFill>
                <a:latin typeface="Calibri"/>
                <a:ea typeface="Calibri"/>
                <a:cs typeface="Calibri"/>
                <a:sym typeface="Calibri"/>
              </a:rPr>
              <a:t>Smailova et al. (2025); Mussagulova &amp; Janenova (2025)</a:t>
            </a:r>
            <a:endParaRPr b="0" i="0" sz="125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Where citizens speak</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9CBEE"/>
              </a:buClr>
              <a:buSzPts val="1050"/>
              <a:buFont typeface="Calibri"/>
              <a:buNone/>
            </a:pPr>
            <a:r>
              <a:rPr b="0" i="0" lang="en-US" sz="1050" u="none" cap="none" strike="noStrike">
                <a:solidFill>
                  <a:srgbClr val="A9CBEE"/>
                </a:solidFill>
                <a:latin typeface="Calibri"/>
                <a:ea typeface="Calibri"/>
                <a:cs typeface="Calibri"/>
                <a:sym typeface="Calibri"/>
              </a:rPr>
              <a:t>Knox &amp; Janenova (2018); Makulbayeva &amp; Sharipova (2025)</a:t>
            </a:r>
            <a:endParaRPr b="0" i="0" sz="125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What counts as participation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9CBEE"/>
              </a:buClr>
              <a:buSzPts val="1050"/>
              <a:buFont typeface="Calibri"/>
              <a:buNone/>
            </a:pPr>
            <a:r>
              <a:rPr b="0" i="0" lang="en-US" sz="1050" u="none" cap="none" strike="noStrike">
                <a:solidFill>
                  <a:srgbClr val="A9CBEE"/>
                </a:solidFill>
                <a:latin typeface="Calibri"/>
                <a:ea typeface="Calibri"/>
                <a:cs typeface="Calibri"/>
                <a:sym typeface="Calibri"/>
              </a:rPr>
              <a:t>Ekman &amp; Amnå (2012)</a:t>
            </a:r>
            <a:endParaRPr b="0" i="0" sz="1250" u="none" cap="none" strike="noStrike">
              <a:solidFill>
                <a:schemeClr val="dk1"/>
              </a:solidFill>
              <a:latin typeface="Calibri"/>
              <a:ea typeface="Calibri"/>
              <a:cs typeface="Calibri"/>
              <a:sym typeface="Calibri"/>
            </a:endParaRPr>
          </a:p>
        </p:txBody>
      </p:sp>
      <p:sp>
        <p:nvSpPr>
          <p:cNvPr id="141" name="Google Shape;141;p8"/>
          <p:cNvSpPr/>
          <p:nvPr/>
        </p:nvSpPr>
        <p:spPr>
          <a:xfrm>
            <a:off x="5623560" y="3657600"/>
            <a:ext cx="2880360" cy="685800"/>
          </a:xfrm>
          <a:prstGeom prst="roundRect">
            <a:avLst>
              <a:gd fmla="val 10667"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5742432" y="3657600"/>
            <a:ext cx="26517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GAP  </a:t>
            </a:r>
            <a:r>
              <a:rPr b="1" i="0" lang="en-US" sz="1150" u="none" cap="none" strike="noStrike">
                <a:solidFill>
                  <a:srgbClr val="0B2447"/>
                </a:solidFill>
                <a:latin typeface="Calibri"/>
                <a:ea typeface="Calibri"/>
                <a:cs typeface="Calibri"/>
                <a:sym typeface="Calibri"/>
              </a:rPr>
              <a:t>How young citizens decide whether listening is genuine.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9"/>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ANALYTICAL FRAMEWORK</a:t>
            </a:r>
            <a:endParaRPr b="0" i="0" sz="1000" u="none" cap="none" strike="noStrike">
              <a:solidFill>
                <a:schemeClr val="dk1"/>
              </a:solidFill>
              <a:latin typeface="Calibri"/>
              <a:ea typeface="Calibri"/>
              <a:cs typeface="Calibri"/>
              <a:sym typeface="Calibri"/>
            </a:endParaRPr>
          </a:p>
        </p:txBody>
      </p:sp>
      <p:sp>
        <p:nvSpPr>
          <p:cNvPr id="149" name="Google Shape;149;p9"/>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Sensitising concepts</a:t>
            </a:r>
            <a:endParaRPr b="0" i="0" sz="2800" u="none" cap="none" strike="noStrike">
              <a:solidFill>
                <a:schemeClr val="dk1"/>
              </a:solidFill>
              <a:latin typeface="Calibri"/>
              <a:ea typeface="Calibri"/>
              <a:cs typeface="Calibri"/>
              <a:sym typeface="Calibri"/>
            </a:endParaRPr>
          </a:p>
        </p:txBody>
      </p:sp>
      <p:sp>
        <p:nvSpPr>
          <p:cNvPr id="150" name="Google Shape;150;p9"/>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151" name="Google Shape;151;p9"/>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152" name="Google Shape;152;p9"/>
          <p:cNvSpPr/>
          <p:nvPr/>
        </p:nvSpPr>
        <p:spPr>
          <a:xfrm>
            <a:off x="457200" y="1371600"/>
            <a:ext cx="2926080" cy="566928"/>
          </a:xfrm>
          <a:prstGeom prst="rect">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3383280" y="1371600"/>
            <a:ext cx="5303520" cy="566928"/>
          </a:xfrm>
          <a:prstGeom prst="rect">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txBox="1"/>
          <p:nvPr/>
        </p:nvSpPr>
        <p:spPr>
          <a:xfrm>
            <a:off x="640080" y="1371600"/>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Responsiveness</a:t>
            </a:r>
            <a:endParaRPr b="0" i="0" sz="1350" u="none" cap="none" strike="noStrike">
              <a:solidFill>
                <a:schemeClr val="dk1"/>
              </a:solidFill>
              <a:latin typeface="Calibri"/>
              <a:ea typeface="Calibri"/>
              <a:cs typeface="Calibri"/>
              <a:sym typeface="Calibri"/>
            </a:endParaRPr>
          </a:p>
        </p:txBody>
      </p:sp>
      <p:sp>
        <p:nvSpPr>
          <p:cNvPr id="155" name="Google Shape;155;p9"/>
          <p:cNvSpPr txBox="1"/>
          <p:nvPr/>
        </p:nvSpPr>
        <p:spPr>
          <a:xfrm>
            <a:off x="3611880" y="1371600"/>
            <a:ext cx="4937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50"/>
              <a:buFont typeface="Calibri"/>
              <a:buNone/>
            </a:pPr>
            <a:r>
              <a:rPr b="0" i="0" lang="en-US" sz="1350" u="none" cap="none" strike="noStrike">
                <a:solidFill>
                  <a:srgbClr val="0B2447"/>
                </a:solidFill>
                <a:latin typeface="Calibri"/>
                <a:ea typeface="Calibri"/>
                <a:cs typeface="Calibri"/>
                <a:sym typeface="Calibri"/>
              </a:rPr>
              <a:t>What counts as a meaningful government response?</a:t>
            </a:r>
            <a:endParaRPr b="0" i="0" sz="1350" u="none" cap="none" strike="noStrike">
              <a:solidFill>
                <a:schemeClr val="dk1"/>
              </a:solidFill>
              <a:latin typeface="Calibri"/>
              <a:ea typeface="Calibri"/>
              <a:cs typeface="Calibri"/>
              <a:sym typeface="Calibri"/>
            </a:endParaRPr>
          </a:p>
        </p:txBody>
      </p:sp>
      <p:sp>
        <p:nvSpPr>
          <p:cNvPr id="156" name="Google Shape;156;p9"/>
          <p:cNvSpPr/>
          <p:nvPr/>
        </p:nvSpPr>
        <p:spPr>
          <a:xfrm>
            <a:off x="457200" y="2029968"/>
            <a:ext cx="2926080" cy="566928"/>
          </a:xfrm>
          <a:prstGeom prst="rect">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3383280" y="2029968"/>
            <a:ext cx="5303520" cy="566928"/>
          </a:xfrm>
          <a:prstGeom prst="rect">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txBox="1"/>
          <p:nvPr/>
        </p:nvSpPr>
        <p:spPr>
          <a:xfrm>
            <a:off x="640080" y="2029968"/>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Voice</a:t>
            </a:r>
            <a:endParaRPr b="0" i="0" sz="1350" u="none" cap="none" strike="noStrike">
              <a:solidFill>
                <a:schemeClr val="dk1"/>
              </a:solidFill>
              <a:latin typeface="Calibri"/>
              <a:ea typeface="Calibri"/>
              <a:cs typeface="Calibri"/>
              <a:sym typeface="Calibri"/>
            </a:endParaRPr>
          </a:p>
        </p:txBody>
      </p:sp>
      <p:sp>
        <p:nvSpPr>
          <p:cNvPr id="159" name="Google Shape;159;p9"/>
          <p:cNvSpPr txBox="1"/>
          <p:nvPr/>
        </p:nvSpPr>
        <p:spPr>
          <a:xfrm>
            <a:off x="3611880" y="2029968"/>
            <a:ext cx="4937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50"/>
              <a:buFont typeface="Calibri"/>
              <a:buNone/>
            </a:pPr>
            <a:r>
              <a:rPr b="0" i="0" lang="en-US" sz="1350" u="none" cap="none" strike="noStrike">
                <a:solidFill>
                  <a:srgbClr val="0B2447"/>
                </a:solidFill>
                <a:latin typeface="Calibri"/>
                <a:ea typeface="Calibri"/>
                <a:cs typeface="Calibri"/>
                <a:sym typeface="Calibri"/>
              </a:rPr>
              <a:t>Do students feel able to express their opinions?</a:t>
            </a:r>
            <a:endParaRPr b="0" i="0" sz="1350" u="none" cap="none" strike="noStrike">
              <a:solidFill>
                <a:schemeClr val="dk1"/>
              </a:solidFill>
              <a:latin typeface="Calibri"/>
              <a:ea typeface="Calibri"/>
              <a:cs typeface="Calibri"/>
              <a:sym typeface="Calibri"/>
            </a:endParaRPr>
          </a:p>
        </p:txBody>
      </p:sp>
      <p:sp>
        <p:nvSpPr>
          <p:cNvPr id="160" name="Google Shape;160;p9"/>
          <p:cNvSpPr/>
          <p:nvPr/>
        </p:nvSpPr>
        <p:spPr>
          <a:xfrm>
            <a:off x="457200" y="2688336"/>
            <a:ext cx="2926080" cy="566928"/>
          </a:xfrm>
          <a:prstGeom prst="rect">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3383280" y="2688336"/>
            <a:ext cx="5303520" cy="566928"/>
          </a:xfrm>
          <a:prstGeom prst="rect">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txBox="1"/>
          <p:nvPr/>
        </p:nvSpPr>
        <p:spPr>
          <a:xfrm>
            <a:off x="640080" y="2688336"/>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Trust</a:t>
            </a:r>
            <a:endParaRPr b="0" i="0" sz="1350" u="none" cap="none" strike="noStrike">
              <a:solidFill>
                <a:schemeClr val="dk1"/>
              </a:solidFill>
              <a:latin typeface="Calibri"/>
              <a:ea typeface="Calibri"/>
              <a:cs typeface="Calibri"/>
              <a:sym typeface="Calibri"/>
            </a:endParaRPr>
          </a:p>
        </p:txBody>
      </p:sp>
      <p:sp>
        <p:nvSpPr>
          <p:cNvPr id="163" name="Google Shape;163;p9"/>
          <p:cNvSpPr txBox="1"/>
          <p:nvPr/>
        </p:nvSpPr>
        <p:spPr>
          <a:xfrm>
            <a:off x="3611880" y="2688336"/>
            <a:ext cx="4937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50"/>
              <a:buFont typeface="Calibri"/>
              <a:buNone/>
            </a:pPr>
            <a:r>
              <a:rPr b="0" i="0" lang="en-US" sz="1350" u="none" cap="none" strike="noStrike">
                <a:solidFill>
                  <a:srgbClr val="0B2447"/>
                </a:solidFill>
                <a:latin typeface="Calibri"/>
                <a:ea typeface="Calibri"/>
                <a:cs typeface="Calibri"/>
                <a:sym typeface="Calibri"/>
              </a:rPr>
              <a:t>Do students believe institutions use feedback seriously?</a:t>
            </a:r>
            <a:endParaRPr b="0" i="0" sz="1350" u="none" cap="none" strike="noStrike">
              <a:solidFill>
                <a:schemeClr val="dk1"/>
              </a:solidFill>
              <a:latin typeface="Calibri"/>
              <a:ea typeface="Calibri"/>
              <a:cs typeface="Calibri"/>
              <a:sym typeface="Calibri"/>
            </a:endParaRPr>
          </a:p>
        </p:txBody>
      </p:sp>
      <p:sp>
        <p:nvSpPr>
          <p:cNvPr id="164" name="Google Shape;164;p9"/>
          <p:cNvSpPr/>
          <p:nvPr/>
        </p:nvSpPr>
        <p:spPr>
          <a:xfrm>
            <a:off x="457200" y="3346704"/>
            <a:ext cx="2926080" cy="566928"/>
          </a:xfrm>
          <a:prstGeom prst="rect">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3383280" y="3346704"/>
            <a:ext cx="5303520" cy="566928"/>
          </a:xfrm>
          <a:prstGeom prst="rect">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txBox="1"/>
          <p:nvPr/>
        </p:nvSpPr>
        <p:spPr>
          <a:xfrm>
            <a:off x="640080" y="3346704"/>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Political efficacy</a:t>
            </a:r>
            <a:endParaRPr b="0" i="0" sz="1350" u="none" cap="none" strike="noStrike">
              <a:solidFill>
                <a:schemeClr val="dk1"/>
              </a:solidFill>
              <a:latin typeface="Calibri"/>
              <a:ea typeface="Calibri"/>
              <a:cs typeface="Calibri"/>
              <a:sym typeface="Calibri"/>
            </a:endParaRPr>
          </a:p>
        </p:txBody>
      </p:sp>
      <p:sp>
        <p:nvSpPr>
          <p:cNvPr id="167" name="Google Shape;167;p9"/>
          <p:cNvSpPr txBox="1"/>
          <p:nvPr/>
        </p:nvSpPr>
        <p:spPr>
          <a:xfrm>
            <a:off x="3611880" y="3346704"/>
            <a:ext cx="4937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50"/>
              <a:buFont typeface="Calibri"/>
              <a:buNone/>
            </a:pPr>
            <a:r>
              <a:rPr b="0" i="0" lang="en-US" sz="1350" u="none" cap="none" strike="noStrike">
                <a:solidFill>
                  <a:srgbClr val="0B2447"/>
                </a:solidFill>
                <a:latin typeface="Calibri"/>
                <a:ea typeface="Calibri"/>
                <a:cs typeface="Calibri"/>
                <a:sym typeface="Calibri"/>
              </a:rPr>
              <a:t>Do students believe citizens can influence decisions?</a:t>
            </a:r>
            <a:endParaRPr b="0" i="0" sz="1350" u="none" cap="none" strike="noStrike">
              <a:solidFill>
                <a:schemeClr val="dk1"/>
              </a:solidFill>
              <a:latin typeface="Calibri"/>
              <a:ea typeface="Calibri"/>
              <a:cs typeface="Calibri"/>
              <a:sym typeface="Calibri"/>
            </a:endParaRPr>
          </a:p>
        </p:txBody>
      </p:sp>
      <p:sp>
        <p:nvSpPr>
          <p:cNvPr id="168" name="Google Shape;168;p9"/>
          <p:cNvSpPr/>
          <p:nvPr/>
        </p:nvSpPr>
        <p:spPr>
          <a:xfrm>
            <a:off x="457200" y="4005072"/>
            <a:ext cx="2926080" cy="566928"/>
          </a:xfrm>
          <a:prstGeom prst="rect">
            <a:avLst/>
          </a:prstGeom>
          <a:solidFill>
            <a:srgbClr val="1F5AA6"/>
          </a:solidFill>
          <a:ln cap="flat" cmpd="sng" w="12700">
            <a:solidFill>
              <a:srgbClr val="1F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3383280" y="4005072"/>
            <a:ext cx="5303520" cy="566928"/>
          </a:xfrm>
          <a:prstGeom prst="rect">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txBox="1"/>
          <p:nvPr/>
        </p:nvSpPr>
        <p:spPr>
          <a:xfrm>
            <a:off x="640080" y="4005072"/>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Symbolic vs substantive participation</a:t>
            </a:r>
            <a:endParaRPr b="0" i="0" sz="1350" u="none" cap="none" strike="noStrike">
              <a:solidFill>
                <a:schemeClr val="dk1"/>
              </a:solidFill>
              <a:latin typeface="Calibri"/>
              <a:ea typeface="Calibri"/>
              <a:cs typeface="Calibri"/>
              <a:sym typeface="Calibri"/>
            </a:endParaRPr>
          </a:p>
        </p:txBody>
      </p:sp>
      <p:sp>
        <p:nvSpPr>
          <p:cNvPr id="171" name="Google Shape;171;p9"/>
          <p:cNvSpPr txBox="1"/>
          <p:nvPr/>
        </p:nvSpPr>
        <p:spPr>
          <a:xfrm>
            <a:off x="3611880" y="4005072"/>
            <a:ext cx="4937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350"/>
              <a:buFont typeface="Calibri"/>
              <a:buNone/>
            </a:pPr>
            <a:r>
              <a:rPr b="0" i="0" lang="en-US" sz="1350" u="none" cap="none" strike="noStrike">
                <a:solidFill>
                  <a:srgbClr val="0B2447"/>
                </a:solidFill>
                <a:latin typeface="Calibri"/>
                <a:ea typeface="Calibri"/>
                <a:cs typeface="Calibri"/>
                <a:sym typeface="Calibri"/>
              </a:rPr>
              <a:t>Is participation only formal, or does it produce meaningful engagement or change?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0"/>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WHAT I EXPECT, AND COULD BE WRONG ABOUT</a:t>
            </a:r>
            <a:endParaRPr b="0" i="0" sz="1000" u="none" cap="none" strike="noStrike">
              <a:solidFill>
                <a:schemeClr val="dk1"/>
              </a:solidFill>
              <a:latin typeface="Calibri"/>
              <a:ea typeface="Calibri"/>
              <a:cs typeface="Calibri"/>
              <a:sym typeface="Calibri"/>
            </a:endParaRPr>
          </a:p>
        </p:txBody>
      </p:sp>
      <p:sp>
        <p:nvSpPr>
          <p:cNvPr id="178" name="Google Shape;178;p10"/>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Interpretivist expectations</a:t>
            </a:r>
            <a:endParaRPr b="0" i="0" sz="2800" u="none" cap="none" strike="noStrike">
              <a:solidFill>
                <a:schemeClr val="dk1"/>
              </a:solidFill>
              <a:latin typeface="Calibri"/>
              <a:ea typeface="Calibri"/>
              <a:cs typeface="Calibri"/>
              <a:sym typeface="Calibri"/>
            </a:endParaRPr>
          </a:p>
        </p:txBody>
      </p:sp>
      <p:sp>
        <p:nvSpPr>
          <p:cNvPr id="179" name="Google Shape;179;p10"/>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180" name="Google Shape;180;p10"/>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81" name="Google Shape;181;p10"/>
          <p:cNvSpPr/>
          <p:nvPr/>
        </p:nvSpPr>
        <p:spPr>
          <a:xfrm>
            <a:off x="457200" y="1280160"/>
            <a:ext cx="8229600" cy="777240"/>
          </a:xfrm>
          <a:prstGeom prst="roundRect">
            <a:avLst>
              <a:gd fmla="val 9412"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640080" y="1453896"/>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txBox="1"/>
          <p:nvPr/>
        </p:nvSpPr>
        <p:spPr>
          <a:xfrm>
            <a:off x="640080" y="145389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184" name="Google Shape;184;p10"/>
          <p:cNvSpPr txBox="1"/>
          <p:nvPr/>
        </p:nvSpPr>
        <p:spPr>
          <a:xfrm>
            <a:off x="1280160" y="1362456"/>
            <a:ext cx="7223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400"/>
              <a:buFont typeface="Calibri"/>
              <a:buNone/>
            </a:pPr>
            <a:r>
              <a:rPr b="1" i="0" lang="en-US" sz="1400" u="none" cap="none" strike="noStrike">
                <a:solidFill>
                  <a:srgbClr val="0B2447"/>
                </a:solidFill>
                <a:latin typeface="Calibri"/>
                <a:ea typeface="Calibri"/>
                <a:cs typeface="Calibri"/>
                <a:sym typeface="Calibri"/>
              </a:rPr>
              <a:t>Formal responsiveness may differ from meaningful responsiveness</a:t>
            </a:r>
            <a:endParaRPr b="0" i="0" sz="1400" u="none" cap="none" strike="noStrike">
              <a:solidFill>
                <a:schemeClr val="dk1"/>
              </a:solidFill>
              <a:latin typeface="Calibri"/>
              <a:ea typeface="Calibri"/>
              <a:cs typeface="Calibri"/>
              <a:sym typeface="Calibri"/>
            </a:endParaRPr>
          </a:p>
        </p:txBody>
      </p:sp>
      <p:sp>
        <p:nvSpPr>
          <p:cNvPr id="185" name="Google Shape;185;p10"/>
          <p:cNvSpPr txBox="1"/>
          <p:nvPr/>
        </p:nvSpPr>
        <p:spPr>
          <a:xfrm>
            <a:off x="1280160" y="1627632"/>
            <a:ext cx="72237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00"/>
              <a:buFont typeface="Calibri"/>
              <a:buNone/>
            </a:pPr>
            <a:r>
              <a:rPr b="0" i="0" lang="en-US" sz="1200" u="none" cap="none" strike="noStrike">
                <a:solidFill>
                  <a:srgbClr val="14243B"/>
                </a:solidFill>
                <a:latin typeface="Calibri"/>
                <a:ea typeface="Calibri"/>
                <a:cs typeface="Calibri"/>
                <a:sym typeface="Calibri"/>
              </a:rPr>
              <a:t>An official reply may not be enough for students to feel heard.</a:t>
            </a:r>
            <a:endParaRPr b="0" i="0" sz="1200" u="none" cap="none" strike="noStrike">
              <a:solidFill>
                <a:schemeClr val="dk1"/>
              </a:solidFill>
              <a:latin typeface="Calibri"/>
              <a:ea typeface="Calibri"/>
              <a:cs typeface="Calibri"/>
              <a:sym typeface="Calibri"/>
            </a:endParaRPr>
          </a:p>
        </p:txBody>
      </p:sp>
      <p:sp>
        <p:nvSpPr>
          <p:cNvPr id="186" name="Google Shape;186;p10"/>
          <p:cNvSpPr/>
          <p:nvPr/>
        </p:nvSpPr>
        <p:spPr>
          <a:xfrm>
            <a:off x="457200" y="2130552"/>
            <a:ext cx="8229600" cy="777240"/>
          </a:xfrm>
          <a:prstGeom prst="roundRect">
            <a:avLst>
              <a:gd fmla="val 9412"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640080" y="2304288"/>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txBox="1"/>
          <p:nvPr/>
        </p:nvSpPr>
        <p:spPr>
          <a:xfrm>
            <a:off x="640080" y="23042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189" name="Google Shape;189;p10"/>
          <p:cNvSpPr txBox="1"/>
          <p:nvPr/>
        </p:nvSpPr>
        <p:spPr>
          <a:xfrm>
            <a:off x="1280160" y="2212848"/>
            <a:ext cx="7223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400"/>
              <a:buFont typeface="Calibri"/>
              <a:buNone/>
            </a:pPr>
            <a:r>
              <a:rPr b="1" i="0" lang="en-US" sz="1400" u="none" cap="none" strike="noStrike">
                <a:solidFill>
                  <a:srgbClr val="0B2447"/>
                </a:solidFill>
                <a:latin typeface="Calibri"/>
                <a:ea typeface="Calibri"/>
                <a:cs typeface="Calibri"/>
                <a:sym typeface="Calibri"/>
              </a:rPr>
              <a:t>Trust may shape participation</a:t>
            </a:r>
            <a:endParaRPr b="0" i="0" sz="1400" u="none" cap="none" strike="noStrike">
              <a:solidFill>
                <a:schemeClr val="dk1"/>
              </a:solidFill>
              <a:latin typeface="Calibri"/>
              <a:ea typeface="Calibri"/>
              <a:cs typeface="Calibri"/>
              <a:sym typeface="Calibri"/>
            </a:endParaRPr>
          </a:p>
        </p:txBody>
      </p:sp>
      <p:sp>
        <p:nvSpPr>
          <p:cNvPr id="190" name="Google Shape;190;p10"/>
          <p:cNvSpPr txBox="1"/>
          <p:nvPr/>
        </p:nvSpPr>
        <p:spPr>
          <a:xfrm>
            <a:off x="1280160" y="2478024"/>
            <a:ext cx="72237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00"/>
              <a:buFont typeface="Calibri"/>
              <a:buNone/>
            </a:pPr>
            <a:r>
              <a:rPr b="0" i="0" lang="en-US" sz="1200" u="none" cap="none" strike="noStrike">
                <a:solidFill>
                  <a:srgbClr val="14243B"/>
                </a:solidFill>
                <a:latin typeface="Calibri"/>
                <a:ea typeface="Calibri"/>
                <a:cs typeface="Calibri"/>
                <a:sym typeface="Calibri"/>
              </a:rPr>
              <a:t>Students who distrust institutions may avoid formal feedback channels.</a:t>
            </a:r>
            <a:endParaRPr b="0" i="0" sz="1200" u="none" cap="none" strike="noStrike">
              <a:solidFill>
                <a:schemeClr val="dk1"/>
              </a:solidFill>
              <a:latin typeface="Calibri"/>
              <a:ea typeface="Calibri"/>
              <a:cs typeface="Calibri"/>
              <a:sym typeface="Calibri"/>
            </a:endParaRPr>
          </a:p>
        </p:txBody>
      </p:sp>
      <p:sp>
        <p:nvSpPr>
          <p:cNvPr id="191" name="Google Shape;191;p10"/>
          <p:cNvSpPr/>
          <p:nvPr/>
        </p:nvSpPr>
        <p:spPr>
          <a:xfrm>
            <a:off x="457200" y="2980944"/>
            <a:ext cx="8229600" cy="777240"/>
          </a:xfrm>
          <a:prstGeom prst="roundRect">
            <a:avLst>
              <a:gd fmla="val 9412"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640080" y="3154680"/>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txBox="1"/>
          <p:nvPr/>
        </p:nvSpPr>
        <p:spPr>
          <a:xfrm>
            <a:off x="640080" y="315468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194" name="Google Shape;194;p10"/>
          <p:cNvSpPr txBox="1"/>
          <p:nvPr/>
        </p:nvSpPr>
        <p:spPr>
          <a:xfrm>
            <a:off x="1280160" y="3063240"/>
            <a:ext cx="7223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400"/>
              <a:buFont typeface="Calibri"/>
              <a:buNone/>
            </a:pPr>
            <a:r>
              <a:rPr b="1" i="0" lang="en-US" sz="1400" u="none" cap="none" strike="noStrike">
                <a:solidFill>
                  <a:srgbClr val="0B2447"/>
                </a:solidFill>
                <a:latin typeface="Calibri"/>
                <a:ea typeface="Calibri"/>
                <a:cs typeface="Calibri"/>
                <a:sym typeface="Calibri"/>
              </a:rPr>
              <a:t>Visible outcomes may define influence</a:t>
            </a:r>
            <a:endParaRPr b="0" i="0" sz="1400" u="none" cap="none" strike="noStrike">
              <a:solidFill>
                <a:schemeClr val="dk1"/>
              </a:solidFill>
              <a:latin typeface="Calibri"/>
              <a:ea typeface="Calibri"/>
              <a:cs typeface="Calibri"/>
              <a:sym typeface="Calibri"/>
            </a:endParaRPr>
          </a:p>
        </p:txBody>
      </p:sp>
      <p:sp>
        <p:nvSpPr>
          <p:cNvPr id="195" name="Google Shape;195;p10"/>
          <p:cNvSpPr txBox="1"/>
          <p:nvPr/>
        </p:nvSpPr>
        <p:spPr>
          <a:xfrm>
            <a:off x="1280160" y="3328416"/>
            <a:ext cx="72237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00"/>
              <a:buFont typeface="Calibri"/>
              <a:buNone/>
            </a:pPr>
            <a:r>
              <a:rPr b="0" i="0" lang="en-US" sz="1200" u="none" cap="none" strike="noStrike">
                <a:solidFill>
                  <a:srgbClr val="14243B"/>
                </a:solidFill>
                <a:latin typeface="Calibri"/>
                <a:ea typeface="Calibri"/>
                <a:cs typeface="Calibri"/>
                <a:sym typeface="Calibri"/>
              </a:rPr>
              <a:t>Students may look for policy changes, explanations, public acknowledgment, or evidence that feedback was considered.</a:t>
            </a:r>
            <a:endParaRPr b="0" i="0" sz="1200" u="none" cap="none" strike="noStrike">
              <a:solidFill>
                <a:schemeClr val="dk1"/>
              </a:solidFill>
              <a:latin typeface="Calibri"/>
              <a:ea typeface="Calibri"/>
              <a:cs typeface="Calibri"/>
              <a:sym typeface="Calibri"/>
            </a:endParaRPr>
          </a:p>
        </p:txBody>
      </p:sp>
      <p:sp>
        <p:nvSpPr>
          <p:cNvPr id="196" name="Google Shape;196;p10"/>
          <p:cNvSpPr/>
          <p:nvPr/>
        </p:nvSpPr>
        <p:spPr>
          <a:xfrm>
            <a:off x="457200" y="3931920"/>
            <a:ext cx="4023360" cy="749808"/>
          </a:xfrm>
          <a:prstGeom prst="roundRect">
            <a:avLst>
              <a:gd fmla="val 9756"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572400" y="3931925"/>
            <a:ext cx="8114400" cy="749700"/>
          </a:xfrm>
          <a:prstGeom prst="roundRect">
            <a:avLst>
              <a:gd fmla="val 9756"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txBox="1"/>
          <p:nvPr/>
        </p:nvSpPr>
        <p:spPr>
          <a:xfrm>
            <a:off x="930150" y="3931925"/>
            <a:ext cx="75738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BEE"/>
              </a:buClr>
              <a:buSzPts val="950"/>
              <a:buFont typeface="Calibri"/>
              <a:buNone/>
            </a:pPr>
            <a:r>
              <a:rPr b="1" i="0" lang="en-US" sz="950" u="none" cap="none" strike="noStrike">
                <a:solidFill>
                  <a:srgbClr val="A9CBEE"/>
                </a:solidFill>
                <a:latin typeface="Calibri"/>
                <a:ea typeface="Calibri"/>
                <a:cs typeface="Calibri"/>
                <a:sym typeface="Calibri"/>
              </a:rPr>
              <a:t>INTERPRETIVIST EXPECTATION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A transparent starting point, open to being confirmed, challenged or revised.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11"/>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METHODOLOGY</a:t>
            </a:r>
            <a:endParaRPr b="0" i="0" sz="1000" u="none" cap="none" strike="noStrike">
              <a:solidFill>
                <a:schemeClr val="dk1"/>
              </a:solidFill>
              <a:latin typeface="Calibri"/>
              <a:ea typeface="Calibri"/>
              <a:cs typeface="Calibri"/>
              <a:sym typeface="Calibri"/>
            </a:endParaRPr>
          </a:p>
        </p:txBody>
      </p:sp>
      <p:sp>
        <p:nvSpPr>
          <p:cNvPr id="205" name="Google Shape;205;p11"/>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Qualitative semi-structured interviews</a:t>
            </a:r>
            <a:endParaRPr b="0" i="0" sz="2800" u="none" cap="none" strike="noStrike">
              <a:solidFill>
                <a:schemeClr val="dk1"/>
              </a:solidFill>
              <a:latin typeface="Calibri"/>
              <a:ea typeface="Calibri"/>
              <a:cs typeface="Calibri"/>
              <a:sym typeface="Calibri"/>
            </a:endParaRPr>
          </a:p>
        </p:txBody>
      </p:sp>
      <p:sp>
        <p:nvSpPr>
          <p:cNvPr id="206" name="Google Shape;206;p11"/>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207" name="Google Shape;207;p11"/>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208" name="Google Shape;208;p11"/>
          <p:cNvSpPr/>
          <p:nvPr/>
        </p:nvSpPr>
        <p:spPr>
          <a:xfrm>
            <a:off x="457200" y="1371600"/>
            <a:ext cx="201168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txBox="1"/>
          <p:nvPr/>
        </p:nvSpPr>
        <p:spPr>
          <a:xfrm>
            <a:off x="621792" y="1499616"/>
            <a:ext cx="17373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950"/>
              <a:buFont typeface="Calibri"/>
              <a:buNone/>
            </a:pPr>
            <a:r>
              <a:rPr b="1" i="0" lang="en-US" sz="950" u="none" cap="none" strike="noStrike">
                <a:solidFill>
                  <a:srgbClr val="1F5AA6"/>
                </a:solidFill>
                <a:latin typeface="Calibri"/>
                <a:ea typeface="Calibri"/>
                <a:cs typeface="Calibri"/>
                <a:sym typeface="Calibri"/>
              </a:rPr>
              <a:t>PARTICIPANTS</a:t>
            </a:r>
            <a:endParaRPr b="0" i="0" sz="950" u="none" cap="none" strike="noStrike">
              <a:solidFill>
                <a:schemeClr val="dk1"/>
              </a:solidFill>
              <a:latin typeface="Calibri"/>
              <a:ea typeface="Calibri"/>
              <a:cs typeface="Calibri"/>
              <a:sym typeface="Calibri"/>
            </a:endParaRPr>
          </a:p>
        </p:txBody>
      </p:sp>
      <p:sp>
        <p:nvSpPr>
          <p:cNvPr id="210" name="Google Shape;210;p11"/>
          <p:cNvSpPr txBox="1"/>
          <p:nvPr/>
        </p:nvSpPr>
        <p:spPr>
          <a:xfrm>
            <a:off x="621792" y="173736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2000"/>
              <a:buFont typeface="Cambria"/>
              <a:buNone/>
            </a:pPr>
            <a:r>
              <a:rPr b="1" lang="en-US" sz="2000">
                <a:solidFill>
                  <a:srgbClr val="0B2447"/>
                </a:solidFill>
                <a:latin typeface="Cambria"/>
                <a:ea typeface="Cambria"/>
                <a:cs typeface="Cambria"/>
                <a:sym typeface="Cambria"/>
              </a:rPr>
              <a:t>8-10</a:t>
            </a:r>
            <a:endParaRPr b="0" i="0" sz="2000" u="none" cap="none" strike="noStrike">
              <a:solidFill>
                <a:schemeClr val="dk1"/>
              </a:solidFill>
              <a:latin typeface="Calibri"/>
              <a:ea typeface="Calibri"/>
              <a:cs typeface="Calibri"/>
              <a:sym typeface="Calibri"/>
            </a:endParaRPr>
          </a:p>
        </p:txBody>
      </p:sp>
      <p:sp>
        <p:nvSpPr>
          <p:cNvPr id="211" name="Google Shape;211;p11"/>
          <p:cNvSpPr txBox="1"/>
          <p:nvPr/>
        </p:nvSpPr>
        <p:spPr>
          <a:xfrm>
            <a:off x="621792" y="2148840"/>
            <a:ext cx="1737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100"/>
              <a:buFont typeface="Calibri"/>
              <a:buNone/>
            </a:pPr>
            <a:r>
              <a:rPr b="0" i="0" lang="en-US" sz="1100" u="none" cap="none" strike="noStrike">
                <a:solidFill>
                  <a:srgbClr val="14243B"/>
                </a:solidFill>
                <a:latin typeface="Calibri"/>
                <a:ea typeface="Calibri"/>
                <a:cs typeface="Calibri"/>
                <a:sym typeface="Calibri"/>
              </a:rPr>
              <a:t>undergraduate students in Astana</a:t>
            </a:r>
            <a:endParaRPr b="0" i="0" sz="1100" u="none" cap="none" strike="noStrike">
              <a:solidFill>
                <a:schemeClr val="dk1"/>
              </a:solidFill>
              <a:latin typeface="Calibri"/>
              <a:ea typeface="Calibri"/>
              <a:cs typeface="Calibri"/>
              <a:sym typeface="Calibri"/>
            </a:endParaRPr>
          </a:p>
        </p:txBody>
      </p:sp>
      <p:sp>
        <p:nvSpPr>
          <p:cNvPr id="212" name="Google Shape;212;p11"/>
          <p:cNvSpPr/>
          <p:nvPr/>
        </p:nvSpPr>
        <p:spPr>
          <a:xfrm>
            <a:off x="2606040" y="1371600"/>
            <a:ext cx="201168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txBox="1"/>
          <p:nvPr/>
        </p:nvSpPr>
        <p:spPr>
          <a:xfrm>
            <a:off x="2770632" y="1499616"/>
            <a:ext cx="17373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950"/>
              <a:buFont typeface="Calibri"/>
              <a:buNone/>
            </a:pPr>
            <a:r>
              <a:rPr b="1" i="0" lang="en-US" sz="950" u="none" cap="none" strike="noStrike">
                <a:solidFill>
                  <a:srgbClr val="1F5AA6"/>
                </a:solidFill>
                <a:latin typeface="Calibri"/>
                <a:ea typeface="Calibri"/>
                <a:cs typeface="Calibri"/>
                <a:sym typeface="Calibri"/>
              </a:rPr>
              <a:t>SAMPLING</a:t>
            </a:r>
            <a:endParaRPr b="0" i="0" sz="950" u="none" cap="none" strike="noStrike">
              <a:solidFill>
                <a:schemeClr val="dk1"/>
              </a:solidFill>
              <a:latin typeface="Calibri"/>
              <a:ea typeface="Calibri"/>
              <a:cs typeface="Calibri"/>
              <a:sym typeface="Calibri"/>
            </a:endParaRPr>
          </a:p>
        </p:txBody>
      </p:sp>
      <p:sp>
        <p:nvSpPr>
          <p:cNvPr id="214" name="Google Shape;214;p11"/>
          <p:cNvSpPr txBox="1"/>
          <p:nvPr/>
        </p:nvSpPr>
        <p:spPr>
          <a:xfrm>
            <a:off x="2770632" y="173736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2000"/>
              <a:buFont typeface="Cambria"/>
              <a:buNone/>
            </a:pPr>
            <a:r>
              <a:rPr b="1" i="0" lang="en-US" sz="2000" u="none" cap="none" strike="noStrike">
                <a:solidFill>
                  <a:srgbClr val="0B2447"/>
                </a:solidFill>
                <a:latin typeface="Cambria"/>
                <a:ea typeface="Cambria"/>
                <a:cs typeface="Cambria"/>
                <a:sym typeface="Cambria"/>
              </a:rPr>
              <a:t>Purposive</a:t>
            </a:r>
            <a:endParaRPr b="0" i="0" sz="2000" u="none" cap="none" strike="noStrike">
              <a:solidFill>
                <a:schemeClr val="dk1"/>
              </a:solidFill>
              <a:latin typeface="Calibri"/>
              <a:ea typeface="Calibri"/>
              <a:cs typeface="Calibri"/>
              <a:sym typeface="Calibri"/>
            </a:endParaRPr>
          </a:p>
        </p:txBody>
      </p:sp>
      <p:sp>
        <p:nvSpPr>
          <p:cNvPr id="215" name="Google Shape;215;p11"/>
          <p:cNvSpPr txBox="1"/>
          <p:nvPr/>
        </p:nvSpPr>
        <p:spPr>
          <a:xfrm>
            <a:off x="2770632" y="2148840"/>
            <a:ext cx="1737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100"/>
              <a:buFont typeface="Calibri"/>
              <a:buNone/>
            </a:pPr>
            <a:r>
              <a:rPr b="0" i="0" lang="en-US" sz="1100" u="none" cap="none" strike="noStrike">
                <a:solidFill>
                  <a:srgbClr val="14243B"/>
                </a:solidFill>
                <a:latin typeface="Calibri"/>
                <a:ea typeface="Calibri"/>
                <a:cs typeface="Calibri"/>
                <a:sym typeface="Calibri"/>
              </a:rPr>
              <a:t>to include different experiences and perspectives</a:t>
            </a:r>
            <a:endParaRPr b="0" i="0" sz="1100" u="none" cap="none" strike="noStrike">
              <a:solidFill>
                <a:schemeClr val="dk1"/>
              </a:solidFill>
              <a:latin typeface="Calibri"/>
              <a:ea typeface="Calibri"/>
              <a:cs typeface="Calibri"/>
              <a:sym typeface="Calibri"/>
            </a:endParaRPr>
          </a:p>
        </p:txBody>
      </p:sp>
      <p:sp>
        <p:nvSpPr>
          <p:cNvPr id="216" name="Google Shape;216;p11"/>
          <p:cNvSpPr/>
          <p:nvPr/>
        </p:nvSpPr>
        <p:spPr>
          <a:xfrm>
            <a:off x="457200" y="3017520"/>
            <a:ext cx="201168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txBox="1"/>
          <p:nvPr/>
        </p:nvSpPr>
        <p:spPr>
          <a:xfrm>
            <a:off x="621792" y="3145536"/>
            <a:ext cx="17373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950"/>
              <a:buFont typeface="Calibri"/>
              <a:buNone/>
            </a:pPr>
            <a:r>
              <a:rPr b="1" i="0" lang="en-US" sz="950" u="none" cap="none" strike="noStrike">
                <a:solidFill>
                  <a:srgbClr val="1F5AA6"/>
                </a:solidFill>
                <a:latin typeface="Calibri"/>
                <a:ea typeface="Calibri"/>
                <a:cs typeface="Calibri"/>
                <a:sym typeface="Calibri"/>
              </a:rPr>
              <a:t>METHOD</a:t>
            </a:r>
            <a:endParaRPr b="0" i="0" sz="950" u="none" cap="none" strike="noStrike">
              <a:solidFill>
                <a:schemeClr val="dk1"/>
              </a:solidFill>
              <a:latin typeface="Calibri"/>
              <a:ea typeface="Calibri"/>
              <a:cs typeface="Calibri"/>
              <a:sym typeface="Calibri"/>
            </a:endParaRPr>
          </a:p>
        </p:txBody>
      </p:sp>
      <p:sp>
        <p:nvSpPr>
          <p:cNvPr id="218" name="Google Shape;218;p11"/>
          <p:cNvSpPr txBox="1"/>
          <p:nvPr/>
        </p:nvSpPr>
        <p:spPr>
          <a:xfrm>
            <a:off x="621792" y="338328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2000"/>
              <a:buFont typeface="Cambria"/>
              <a:buNone/>
            </a:pPr>
            <a:r>
              <a:rPr b="1" i="0" lang="en-US" sz="2000" u="none" cap="none" strike="noStrike">
                <a:solidFill>
                  <a:srgbClr val="0B2447"/>
                </a:solidFill>
                <a:latin typeface="Cambria"/>
                <a:ea typeface="Cambria"/>
                <a:cs typeface="Cambria"/>
                <a:sym typeface="Cambria"/>
              </a:rPr>
              <a:t>Interviews</a:t>
            </a:r>
            <a:endParaRPr b="0" i="0" sz="2000" u="none" cap="none" strike="noStrike">
              <a:solidFill>
                <a:schemeClr val="dk1"/>
              </a:solidFill>
              <a:latin typeface="Calibri"/>
              <a:ea typeface="Calibri"/>
              <a:cs typeface="Calibri"/>
              <a:sym typeface="Calibri"/>
            </a:endParaRPr>
          </a:p>
        </p:txBody>
      </p:sp>
      <p:sp>
        <p:nvSpPr>
          <p:cNvPr id="219" name="Google Shape;219;p11"/>
          <p:cNvSpPr txBox="1"/>
          <p:nvPr/>
        </p:nvSpPr>
        <p:spPr>
          <a:xfrm>
            <a:off x="621792" y="3794760"/>
            <a:ext cx="1737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100"/>
              <a:buFont typeface="Calibri"/>
              <a:buNone/>
            </a:pPr>
            <a:r>
              <a:rPr b="0" i="0" lang="en-US" sz="1100" u="none" cap="none" strike="noStrike">
                <a:solidFill>
                  <a:srgbClr val="14243B"/>
                </a:solidFill>
                <a:latin typeface="Calibri"/>
                <a:ea typeface="Calibri"/>
                <a:cs typeface="Calibri"/>
                <a:sym typeface="Calibri"/>
              </a:rPr>
              <a:t>qualitative and semi-structured</a:t>
            </a:r>
            <a:endParaRPr b="0" i="0" sz="1100" u="none" cap="none" strike="noStrike">
              <a:solidFill>
                <a:schemeClr val="dk1"/>
              </a:solidFill>
              <a:latin typeface="Calibri"/>
              <a:ea typeface="Calibri"/>
              <a:cs typeface="Calibri"/>
              <a:sym typeface="Calibri"/>
            </a:endParaRPr>
          </a:p>
        </p:txBody>
      </p:sp>
      <p:sp>
        <p:nvSpPr>
          <p:cNvPr id="220" name="Google Shape;220;p11"/>
          <p:cNvSpPr/>
          <p:nvPr/>
        </p:nvSpPr>
        <p:spPr>
          <a:xfrm>
            <a:off x="2606040" y="3017520"/>
            <a:ext cx="201168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txBox="1"/>
          <p:nvPr/>
        </p:nvSpPr>
        <p:spPr>
          <a:xfrm>
            <a:off x="2770632" y="3145536"/>
            <a:ext cx="173736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950"/>
              <a:buFont typeface="Calibri"/>
              <a:buNone/>
            </a:pPr>
            <a:r>
              <a:rPr b="1" i="0" lang="en-US" sz="950" u="none" cap="none" strike="noStrike">
                <a:solidFill>
                  <a:srgbClr val="1F5AA6"/>
                </a:solidFill>
                <a:latin typeface="Calibri"/>
                <a:ea typeface="Calibri"/>
                <a:cs typeface="Calibri"/>
                <a:sym typeface="Calibri"/>
              </a:rPr>
              <a:t>ANALYSIS</a:t>
            </a:r>
            <a:endParaRPr b="0" i="0" sz="950" u="none" cap="none" strike="noStrike">
              <a:solidFill>
                <a:schemeClr val="dk1"/>
              </a:solidFill>
              <a:latin typeface="Calibri"/>
              <a:ea typeface="Calibri"/>
              <a:cs typeface="Calibri"/>
              <a:sym typeface="Calibri"/>
            </a:endParaRPr>
          </a:p>
        </p:txBody>
      </p:sp>
      <p:sp>
        <p:nvSpPr>
          <p:cNvPr id="222" name="Google Shape;222;p11"/>
          <p:cNvSpPr txBox="1"/>
          <p:nvPr/>
        </p:nvSpPr>
        <p:spPr>
          <a:xfrm>
            <a:off x="2770632" y="338328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2000"/>
              <a:buFont typeface="Cambria"/>
              <a:buNone/>
            </a:pPr>
            <a:r>
              <a:rPr b="1" i="0" lang="en-US" sz="2000" u="none" cap="none" strike="noStrike">
                <a:solidFill>
                  <a:srgbClr val="0B2447"/>
                </a:solidFill>
                <a:latin typeface="Cambria"/>
                <a:ea typeface="Cambria"/>
                <a:cs typeface="Cambria"/>
                <a:sym typeface="Cambria"/>
              </a:rPr>
              <a:t>Thematic</a:t>
            </a:r>
            <a:endParaRPr b="0" i="0" sz="2000" u="none" cap="none" strike="noStrike">
              <a:solidFill>
                <a:schemeClr val="dk1"/>
              </a:solidFill>
              <a:latin typeface="Calibri"/>
              <a:ea typeface="Calibri"/>
              <a:cs typeface="Calibri"/>
              <a:sym typeface="Calibri"/>
            </a:endParaRPr>
          </a:p>
        </p:txBody>
      </p:sp>
      <p:sp>
        <p:nvSpPr>
          <p:cNvPr id="223" name="Google Shape;223;p11"/>
          <p:cNvSpPr txBox="1"/>
          <p:nvPr/>
        </p:nvSpPr>
        <p:spPr>
          <a:xfrm>
            <a:off x="2770632" y="3794760"/>
            <a:ext cx="17373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100"/>
              <a:buFont typeface="Calibri"/>
              <a:buNone/>
            </a:pPr>
            <a:r>
              <a:rPr b="0" i="0" lang="en-US" sz="1100" u="none" cap="none" strike="noStrike">
                <a:solidFill>
                  <a:srgbClr val="14243B"/>
                </a:solidFill>
                <a:latin typeface="Calibri"/>
                <a:ea typeface="Calibri"/>
                <a:cs typeface="Calibri"/>
                <a:sym typeface="Calibri"/>
              </a:rPr>
              <a:t>interpretive thematic analysis using sensitising concepts</a:t>
            </a:r>
            <a:endParaRPr b="0" i="0" sz="1100" u="none" cap="none" strike="noStrike">
              <a:solidFill>
                <a:schemeClr val="dk1"/>
              </a:solidFill>
              <a:latin typeface="Calibri"/>
              <a:ea typeface="Calibri"/>
              <a:cs typeface="Calibri"/>
              <a:sym typeface="Calibri"/>
            </a:endParaRPr>
          </a:p>
        </p:txBody>
      </p:sp>
      <p:sp>
        <p:nvSpPr>
          <p:cNvPr id="224" name="Google Shape;224;p11"/>
          <p:cNvSpPr/>
          <p:nvPr/>
        </p:nvSpPr>
        <p:spPr>
          <a:xfrm>
            <a:off x="4937760" y="1371600"/>
            <a:ext cx="3749040" cy="3154680"/>
          </a:xfrm>
          <a:prstGeom prst="roundRect">
            <a:avLst>
              <a:gd fmla="val 2899"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txBox="1"/>
          <p:nvPr/>
        </p:nvSpPr>
        <p:spPr>
          <a:xfrm>
            <a:off x="5166360" y="1554480"/>
            <a:ext cx="329184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INTERVIEW TOPICS</a:t>
            </a:r>
            <a:endParaRPr b="0" i="0" sz="1000" u="none" cap="none" strike="noStrike">
              <a:solidFill>
                <a:schemeClr val="dk1"/>
              </a:solidFill>
              <a:latin typeface="Calibri"/>
              <a:ea typeface="Calibri"/>
              <a:cs typeface="Calibri"/>
              <a:sym typeface="Calibri"/>
            </a:endParaRPr>
          </a:p>
        </p:txBody>
      </p:sp>
      <p:sp>
        <p:nvSpPr>
          <p:cNvPr id="226" name="Google Shape;226;p11"/>
          <p:cNvSpPr txBox="1"/>
          <p:nvPr/>
        </p:nvSpPr>
        <p:spPr>
          <a:xfrm>
            <a:off x="5166360" y="1920240"/>
            <a:ext cx="3291840" cy="24688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Meaning of the “Listening State”</a:t>
            </a:r>
            <a:endParaRPr b="0" i="0" sz="13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Awareness or use of feedback channels</a:t>
            </a:r>
            <a:endParaRPr b="0" i="0" sz="13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Trust in government institutions</a:t>
            </a:r>
            <a:endParaRPr b="0" i="0" sz="13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Experiences of being heard or ignored</a:t>
            </a:r>
            <a:endParaRPr b="0" i="0" sz="1350" u="none" cap="none" strike="noStrike">
              <a:solidFill>
                <a:schemeClr val="dk1"/>
              </a:solidFill>
              <a:latin typeface="Calibri"/>
              <a:ea typeface="Calibri"/>
              <a:cs typeface="Calibri"/>
              <a:sym typeface="Calibri"/>
            </a:endParaRPr>
          </a:p>
          <a:p>
            <a:pPr indent="-342900" lvl="0" marL="342900" marR="0" rtl="0" algn="l">
              <a:spcBef>
                <a:spcPts val="9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Criteria for judging citizen influence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2"/>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RESEARCHER POSITIONALITY</a:t>
            </a:r>
            <a:endParaRPr b="0" i="0" sz="1000" u="none" cap="none" strike="noStrike">
              <a:solidFill>
                <a:schemeClr val="dk1"/>
              </a:solidFill>
              <a:latin typeface="Calibri"/>
              <a:ea typeface="Calibri"/>
              <a:cs typeface="Calibri"/>
              <a:sym typeface="Calibri"/>
            </a:endParaRPr>
          </a:p>
        </p:txBody>
      </p:sp>
      <p:sp>
        <p:nvSpPr>
          <p:cNvPr id="233" name="Google Shape;233;p12"/>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Positionality and standpoint</a:t>
            </a:r>
            <a:endParaRPr b="0" i="0" sz="2800" u="none" cap="none" strike="noStrike">
              <a:solidFill>
                <a:schemeClr val="dk1"/>
              </a:solidFill>
              <a:latin typeface="Calibri"/>
              <a:ea typeface="Calibri"/>
              <a:cs typeface="Calibri"/>
              <a:sym typeface="Calibri"/>
            </a:endParaRPr>
          </a:p>
        </p:txBody>
      </p:sp>
      <p:sp>
        <p:nvSpPr>
          <p:cNvPr id="234" name="Google Shape;234;p12"/>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235" name="Google Shape;235;p12"/>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236" name="Google Shape;236;p12"/>
          <p:cNvSpPr/>
          <p:nvPr/>
        </p:nvSpPr>
        <p:spPr>
          <a:xfrm>
            <a:off x="457200" y="1417320"/>
            <a:ext cx="2514600" cy="3017520"/>
          </a:xfrm>
          <a:prstGeom prst="roundRect">
            <a:avLst>
              <a:gd fmla="val 3636"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685800" y="1645920"/>
            <a:ext cx="457200" cy="457200"/>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txBox="1"/>
          <p:nvPr/>
        </p:nvSpPr>
        <p:spPr>
          <a:xfrm>
            <a:off x="68580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239" name="Google Shape;239;p12"/>
          <p:cNvSpPr txBox="1"/>
          <p:nvPr/>
        </p:nvSpPr>
        <p:spPr>
          <a:xfrm>
            <a:off x="685800" y="228600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800"/>
              <a:buFont typeface="Cambria"/>
              <a:buNone/>
            </a:pPr>
            <a:r>
              <a:rPr b="1" i="0" lang="en-US" sz="1800" u="none" cap="none" strike="noStrike">
                <a:solidFill>
                  <a:srgbClr val="0B2447"/>
                </a:solidFill>
                <a:latin typeface="Cambria"/>
                <a:ea typeface="Cambria"/>
                <a:cs typeface="Cambria"/>
                <a:sym typeface="Cambria"/>
              </a:rPr>
              <a:t>Insider context</a:t>
            </a:r>
            <a:endParaRPr b="0" i="0" sz="1800" u="none" cap="none" strike="noStrike">
              <a:solidFill>
                <a:schemeClr val="dk1"/>
              </a:solidFill>
              <a:latin typeface="Calibri"/>
              <a:ea typeface="Calibri"/>
              <a:cs typeface="Calibri"/>
              <a:sym typeface="Calibri"/>
            </a:endParaRPr>
          </a:p>
        </p:txBody>
      </p:sp>
      <p:sp>
        <p:nvSpPr>
          <p:cNvPr id="240" name="Google Shape;240;p12"/>
          <p:cNvSpPr txBox="1"/>
          <p:nvPr/>
        </p:nvSpPr>
        <p:spPr>
          <a:xfrm>
            <a:off x="685800" y="2971800"/>
            <a:ext cx="21031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00"/>
              <a:buFont typeface="Calibri"/>
              <a:buNone/>
            </a:pPr>
            <a:r>
              <a:rPr b="0" i="0" lang="en-US" sz="1300" u="none" cap="none" strike="noStrike">
                <a:solidFill>
                  <a:srgbClr val="14243B"/>
                </a:solidFill>
                <a:latin typeface="Calibri"/>
                <a:ea typeface="Calibri"/>
                <a:cs typeface="Calibri"/>
                <a:sym typeface="Calibri"/>
              </a:rPr>
              <a:t>As an undergraduate student in Kazakhstan, I share part of the participants’ social and educational context.</a:t>
            </a:r>
            <a:endParaRPr b="0" i="0" sz="1300" u="none" cap="none" strike="noStrike">
              <a:solidFill>
                <a:schemeClr val="dk1"/>
              </a:solidFill>
              <a:latin typeface="Calibri"/>
              <a:ea typeface="Calibri"/>
              <a:cs typeface="Calibri"/>
              <a:sym typeface="Calibri"/>
            </a:endParaRPr>
          </a:p>
        </p:txBody>
      </p:sp>
      <p:sp>
        <p:nvSpPr>
          <p:cNvPr id="241" name="Google Shape;241;p12"/>
          <p:cNvSpPr/>
          <p:nvPr/>
        </p:nvSpPr>
        <p:spPr>
          <a:xfrm>
            <a:off x="3017520" y="2743200"/>
            <a:ext cx="256032" cy="274320"/>
          </a:xfrm>
          <a:prstGeom prst="rightArrow">
            <a:avLst>
              <a:gd fmla="val 50000" name="adj1"/>
              <a:gd fmla="val 50000" name="adj2"/>
            </a:avLst>
          </a:prstGeom>
          <a:solidFill>
            <a:srgbClr val="1F5AA6"/>
          </a:solidFill>
          <a:ln cap="flat" cmpd="sng" w="12700">
            <a:solidFill>
              <a:srgbClr val="1F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3314700" y="1417320"/>
            <a:ext cx="2514600" cy="3017520"/>
          </a:xfrm>
          <a:prstGeom prst="roundRect">
            <a:avLst>
              <a:gd fmla="val 3636"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3543300" y="1645920"/>
            <a:ext cx="457200" cy="457200"/>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txBox="1"/>
          <p:nvPr/>
        </p:nvSpPr>
        <p:spPr>
          <a:xfrm>
            <a:off x="354330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245" name="Google Shape;245;p12"/>
          <p:cNvSpPr txBox="1"/>
          <p:nvPr/>
        </p:nvSpPr>
        <p:spPr>
          <a:xfrm>
            <a:off x="3543300" y="228600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800"/>
              <a:buFont typeface="Cambria"/>
              <a:buNone/>
            </a:pPr>
            <a:r>
              <a:rPr b="1" i="0" lang="en-US" sz="1800" u="none" cap="none" strike="noStrike">
                <a:solidFill>
                  <a:srgbClr val="0B2447"/>
                </a:solidFill>
                <a:latin typeface="Cambria"/>
                <a:ea typeface="Cambria"/>
                <a:cs typeface="Cambria"/>
                <a:sym typeface="Cambria"/>
              </a:rPr>
              <a:t>Possible bias</a:t>
            </a:r>
            <a:endParaRPr b="0" i="0" sz="1800" u="none" cap="none" strike="noStrike">
              <a:solidFill>
                <a:schemeClr val="dk1"/>
              </a:solidFill>
              <a:latin typeface="Calibri"/>
              <a:ea typeface="Calibri"/>
              <a:cs typeface="Calibri"/>
              <a:sym typeface="Calibri"/>
            </a:endParaRPr>
          </a:p>
        </p:txBody>
      </p:sp>
      <p:sp>
        <p:nvSpPr>
          <p:cNvPr id="246" name="Google Shape;246;p12"/>
          <p:cNvSpPr txBox="1"/>
          <p:nvPr/>
        </p:nvSpPr>
        <p:spPr>
          <a:xfrm>
            <a:off x="3543300" y="2971800"/>
            <a:ext cx="21031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300"/>
              <a:buFont typeface="Calibri"/>
              <a:buNone/>
            </a:pPr>
            <a:r>
              <a:rPr b="0" i="0" lang="en-US" sz="1300" u="none" cap="none" strike="noStrike">
                <a:solidFill>
                  <a:srgbClr val="14243B"/>
                </a:solidFill>
                <a:latin typeface="Calibri"/>
                <a:ea typeface="Calibri"/>
                <a:cs typeface="Calibri"/>
                <a:sym typeface="Calibri"/>
              </a:rPr>
              <a:t>My own views about government responsiveness may influence the questions I ask and how I interpret answers.</a:t>
            </a:r>
            <a:endParaRPr b="0" i="0" sz="1300" u="none" cap="none" strike="noStrike">
              <a:solidFill>
                <a:schemeClr val="dk1"/>
              </a:solidFill>
              <a:latin typeface="Calibri"/>
              <a:ea typeface="Calibri"/>
              <a:cs typeface="Calibri"/>
              <a:sym typeface="Calibri"/>
            </a:endParaRPr>
          </a:p>
        </p:txBody>
      </p:sp>
      <p:sp>
        <p:nvSpPr>
          <p:cNvPr id="247" name="Google Shape;247;p12"/>
          <p:cNvSpPr/>
          <p:nvPr/>
        </p:nvSpPr>
        <p:spPr>
          <a:xfrm>
            <a:off x="5875020" y="2743200"/>
            <a:ext cx="256032" cy="274320"/>
          </a:xfrm>
          <a:prstGeom prst="rightArrow">
            <a:avLst>
              <a:gd fmla="val 50000" name="adj1"/>
              <a:gd fmla="val 50000" name="adj2"/>
            </a:avLst>
          </a:prstGeom>
          <a:solidFill>
            <a:srgbClr val="1F5AA6"/>
          </a:solidFill>
          <a:ln cap="flat" cmpd="sng" w="12700">
            <a:solidFill>
              <a:srgbClr val="1F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6172200" y="1417320"/>
            <a:ext cx="2514600" cy="3017520"/>
          </a:xfrm>
          <a:prstGeom prst="roundRect">
            <a:avLst>
              <a:gd fmla="val 3636"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6400800" y="1645920"/>
            <a:ext cx="457200" cy="457200"/>
          </a:xfrm>
          <a:prstGeom prst="ellipse">
            <a:avLst/>
          </a:prstGeom>
          <a:solidFill>
            <a:srgbClr val="A9CBEE"/>
          </a:solidFill>
          <a:ln cap="flat" cmpd="sng" w="12700">
            <a:solidFill>
              <a:srgbClr val="A9C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txBox="1"/>
          <p:nvPr/>
        </p:nvSpPr>
        <p:spPr>
          <a:xfrm>
            <a:off x="6400800" y="1645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447"/>
              </a:buClr>
              <a:buSzPts val="1600"/>
              <a:buFont typeface="Cambria"/>
              <a:buNone/>
            </a:pPr>
            <a:r>
              <a:rPr b="1" i="0" lang="en-US" sz="1600" u="none" cap="none" strike="noStrike">
                <a:solidFill>
                  <a:srgbClr val="0B2447"/>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251" name="Google Shape;251;p12"/>
          <p:cNvSpPr txBox="1"/>
          <p:nvPr/>
        </p:nvSpPr>
        <p:spPr>
          <a:xfrm>
            <a:off x="6400800" y="2286000"/>
            <a:ext cx="2103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Reflexive methodology</a:t>
            </a:r>
            <a:endParaRPr b="0" i="0" sz="1800" u="none" cap="none" strike="noStrike">
              <a:solidFill>
                <a:schemeClr val="dk1"/>
              </a:solidFill>
              <a:latin typeface="Calibri"/>
              <a:ea typeface="Calibri"/>
              <a:cs typeface="Calibri"/>
              <a:sym typeface="Calibri"/>
            </a:endParaRPr>
          </a:p>
        </p:txBody>
      </p:sp>
      <p:sp>
        <p:nvSpPr>
          <p:cNvPr id="252" name="Google Shape;252;p12"/>
          <p:cNvSpPr txBox="1"/>
          <p:nvPr/>
        </p:nvSpPr>
        <p:spPr>
          <a:xfrm>
            <a:off x="6400800" y="2971800"/>
            <a:ext cx="21031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I will use open questions, reflexive notes, and participant-centred analysis.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3"/>
          <p:cNvSpPr txBox="1"/>
          <p:nvPr/>
        </p:nvSpPr>
        <p:spPr>
          <a:xfrm>
            <a:off x="457200" y="292608"/>
            <a:ext cx="7315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5AA6"/>
              </a:buClr>
              <a:buSzPts val="1000"/>
              <a:buFont typeface="Calibri"/>
              <a:buNone/>
            </a:pPr>
            <a:r>
              <a:rPr b="1" i="0" lang="en-US" sz="1000" u="none" cap="none" strike="noStrike">
                <a:solidFill>
                  <a:srgbClr val="1F5AA6"/>
                </a:solidFill>
                <a:latin typeface="Calibri"/>
                <a:ea typeface="Calibri"/>
                <a:cs typeface="Calibri"/>
                <a:sym typeface="Calibri"/>
              </a:rPr>
              <a:t>WORKING WITH AI</a:t>
            </a:r>
            <a:endParaRPr b="0" i="0" sz="1000" u="none" cap="none" strike="noStrike">
              <a:solidFill>
                <a:schemeClr val="dk1"/>
              </a:solidFill>
              <a:latin typeface="Calibri"/>
              <a:ea typeface="Calibri"/>
              <a:cs typeface="Calibri"/>
              <a:sym typeface="Calibri"/>
            </a:endParaRPr>
          </a:p>
        </p:txBody>
      </p:sp>
      <p:sp>
        <p:nvSpPr>
          <p:cNvPr id="259" name="Google Shape;259;p13"/>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2800"/>
              <a:buFont typeface="Cambria"/>
              <a:buNone/>
            </a:pPr>
            <a:r>
              <a:rPr b="1" i="0" lang="en-US" sz="2800" u="none" cap="none" strike="noStrike">
                <a:solidFill>
                  <a:srgbClr val="0B2447"/>
                </a:solidFill>
                <a:latin typeface="Cambria"/>
                <a:ea typeface="Cambria"/>
                <a:cs typeface="Cambria"/>
                <a:sym typeface="Cambria"/>
              </a:rPr>
              <a:t>AI transparency statement</a:t>
            </a:r>
            <a:endParaRPr b="0" i="0" sz="2800" u="none" cap="none" strike="noStrike">
              <a:solidFill>
                <a:schemeClr val="dk1"/>
              </a:solidFill>
              <a:latin typeface="Calibri"/>
              <a:ea typeface="Calibri"/>
              <a:cs typeface="Calibri"/>
              <a:sym typeface="Calibri"/>
            </a:endParaRPr>
          </a:p>
        </p:txBody>
      </p:sp>
      <p:sp>
        <p:nvSpPr>
          <p:cNvPr id="260" name="Google Shape;260;p13"/>
          <p:cNvSpPr txBox="1"/>
          <p:nvPr/>
        </p:nvSpPr>
        <p:spPr>
          <a:xfrm>
            <a:off x="457200" y="4800600"/>
            <a:ext cx="36576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PLS210 · Nursultan Kuandyk</a:t>
            </a:r>
            <a:endParaRPr b="0" i="0" sz="900" u="none" cap="none" strike="noStrike">
              <a:solidFill>
                <a:schemeClr val="dk1"/>
              </a:solidFill>
              <a:latin typeface="Calibri"/>
              <a:ea typeface="Calibri"/>
              <a:cs typeface="Calibri"/>
              <a:sym typeface="Calibri"/>
            </a:endParaRPr>
          </a:p>
        </p:txBody>
      </p:sp>
      <p:sp>
        <p:nvSpPr>
          <p:cNvPr id="261" name="Google Shape;261;p13"/>
          <p:cNvSpPr txBox="1"/>
          <p:nvPr/>
        </p:nvSpPr>
        <p:spPr>
          <a:xfrm>
            <a:off x="7772400" y="4800600"/>
            <a:ext cx="91440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A6B84"/>
              </a:buClr>
              <a:buSzPts val="900"/>
              <a:buFont typeface="Calibri"/>
              <a:buNone/>
            </a:pPr>
            <a:r>
              <a:rPr b="0" i="0" lang="en-US" sz="900" u="none" cap="none" strike="noStrike">
                <a:solidFill>
                  <a:srgbClr val="5A6B84"/>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262" name="Google Shape;262;p13"/>
          <p:cNvSpPr/>
          <p:nvPr/>
        </p:nvSpPr>
        <p:spPr>
          <a:xfrm>
            <a:off x="457200" y="1371600"/>
            <a:ext cx="402336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58368" y="1572768"/>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txBox="1"/>
          <p:nvPr/>
        </p:nvSpPr>
        <p:spPr>
          <a:xfrm>
            <a:off x="658368" y="157276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265" name="Google Shape;265;p13"/>
          <p:cNvSpPr txBox="1"/>
          <p:nvPr/>
        </p:nvSpPr>
        <p:spPr>
          <a:xfrm>
            <a:off x="1234440" y="1572768"/>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Conceptual refinement</a:t>
            </a:r>
            <a:endParaRPr b="0" i="0" sz="1500" u="none" cap="none" strike="noStrike">
              <a:solidFill>
                <a:schemeClr val="dk1"/>
              </a:solidFill>
              <a:latin typeface="Calibri"/>
              <a:ea typeface="Calibri"/>
              <a:cs typeface="Calibri"/>
              <a:sym typeface="Calibri"/>
            </a:endParaRPr>
          </a:p>
        </p:txBody>
      </p:sp>
      <p:sp>
        <p:nvSpPr>
          <p:cNvPr id="266" name="Google Shape;266;p13"/>
          <p:cNvSpPr txBox="1"/>
          <p:nvPr/>
        </p:nvSpPr>
        <p:spPr>
          <a:xfrm>
            <a:off x="1234440" y="1993392"/>
            <a:ext cx="3063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Used AI tools to clarify the research question and connect it to interpretivist concepts.</a:t>
            </a:r>
            <a:endParaRPr b="0" i="0" sz="1250" u="none" cap="none" strike="noStrike">
              <a:solidFill>
                <a:schemeClr val="dk1"/>
              </a:solidFill>
              <a:latin typeface="Calibri"/>
              <a:ea typeface="Calibri"/>
              <a:cs typeface="Calibri"/>
              <a:sym typeface="Calibri"/>
            </a:endParaRPr>
          </a:p>
        </p:txBody>
      </p:sp>
      <p:sp>
        <p:nvSpPr>
          <p:cNvPr id="267" name="Google Shape;267;p13"/>
          <p:cNvSpPr/>
          <p:nvPr/>
        </p:nvSpPr>
        <p:spPr>
          <a:xfrm>
            <a:off x="4663440" y="1371600"/>
            <a:ext cx="402336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p:nvPr/>
        </p:nvSpPr>
        <p:spPr>
          <a:xfrm>
            <a:off x="4864608" y="1572768"/>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3"/>
          <p:cNvSpPr txBox="1"/>
          <p:nvPr/>
        </p:nvSpPr>
        <p:spPr>
          <a:xfrm>
            <a:off x="4864608" y="157276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270" name="Google Shape;270;p13"/>
          <p:cNvSpPr txBox="1"/>
          <p:nvPr/>
        </p:nvSpPr>
        <p:spPr>
          <a:xfrm>
            <a:off x="5440680" y="1572768"/>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Structural organization</a:t>
            </a:r>
            <a:endParaRPr b="0" i="0" sz="1500" u="none" cap="none" strike="noStrike">
              <a:solidFill>
                <a:schemeClr val="dk1"/>
              </a:solidFill>
              <a:latin typeface="Calibri"/>
              <a:ea typeface="Calibri"/>
              <a:cs typeface="Calibri"/>
              <a:sym typeface="Calibri"/>
            </a:endParaRPr>
          </a:p>
        </p:txBody>
      </p:sp>
      <p:sp>
        <p:nvSpPr>
          <p:cNvPr id="271" name="Google Shape;271;p13"/>
          <p:cNvSpPr txBox="1"/>
          <p:nvPr/>
        </p:nvSpPr>
        <p:spPr>
          <a:xfrm>
            <a:off x="5440675" y="1993400"/>
            <a:ext cx="29061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Used AI to organize the presentation, draft the script  and improve the clarity of explanations.</a:t>
            </a:r>
            <a:endParaRPr b="0" i="0" sz="1250" u="none" cap="none" strike="noStrike">
              <a:solidFill>
                <a:schemeClr val="dk1"/>
              </a:solidFill>
              <a:latin typeface="Calibri"/>
              <a:ea typeface="Calibri"/>
              <a:cs typeface="Calibri"/>
              <a:sym typeface="Calibri"/>
            </a:endParaRPr>
          </a:p>
        </p:txBody>
      </p:sp>
      <p:sp>
        <p:nvSpPr>
          <p:cNvPr id="272" name="Google Shape;272;p13"/>
          <p:cNvSpPr/>
          <p:nvPr/>
        </p:nvSpPr>
        <p:spPr>
          <a:xfrm>
            <a:off x="457200" y="3017520"/>
            <a:ext cx="4023360" cy="1508760"/>
          </a:xfrm>
          <a:prstGeom prst="roundRect">
            <a:avLst>
              <a:gd fmla="val 6061"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
          <p:cNvSpPr/>
          <p:nvPr/>
        </p:nvSpPr>
        <p:spPr>
          <a:xfrm>
            <a:off x="658368" y="3218688"/>
            <a:ext cx="420624" cy="420624"/>
          </a:xfrm>
          <a:prstGeom prst="ellipse">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3"/>
          <p:cNvSpPr txBox="1"/>
          <p:nvPr/>
        </p:nvSpPr>
        <p:spPr>
          <a:xfrm>
            <a:off x="658368" y="32186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275" name="Google Shape;275;p13"/>
          <p:cNvSpPr txBox="1"/>
          <p:nvPr/>
        </p:nvSpPr>
        <p:spPr>
          <a:xfrm>
            <a:off x="1234440" y="3218688"/>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447"/>
              </a:buClr>
              <a:buSzPts val="1500"/>
              <a:buFont typeface="Calibri"/>
              <a:buNone/>
            </a:pPr>
            <a:r>
              <a:rPr b="1" i="0" lang="en-US" sz="1500" u="none" cap="none" strike="noStrike">
                <a:solidFill>
                  <a:srgbClr val="0B2447"/>
                </a:solidFill>
                <a:latin typeface="Calibri"/>
                <a:ea typeface="Calibri"/>
                <a:cs typeface="Calibri"/>
                <a:sym typeface="Calibri"/>
              </a:rPr>
              <a:t>Critical evaluation</a:t>
            </a:r>
            <a:endParaRPr b="0" i="0" sz="1500" u="none" cap="none" strike="noStrike">
              <a:solidFill>
                <a:schemeClr val="dk1"/>
              </a:solidFill>
              <a:latin typeface="Calibri"/>
              <a:ea typeface="Calibri"/>
              <a:cs typeface="Calibri"/>
              <a:sym typeface="Calibri"/>
            </a:endParaRPr>
          </a:p>
        </p:txBody>
      </p:sp>
      <p:sp>
        <p:nvSpPr>
          <p:cNvPr id="276" name="Google Shape;276;p13"/>
          <p:cNvSpPr txBox="1"/>
          <p:nvPr/>
        </p:nvSpPr>
        <p:spPr>
          <a:xfrm>
            <a:off x="1234440" y="3639312"/>
            <a:ext cx="3063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43B"/>
              </a:buClr>
              <a:buSzPts val="1250"/>
              <a:buFont typeface="Calibri"/>
              <a:buNone/>
            </a:pPr>
            <a:r>
              <a:rPr b="0" i="0" lang="en-US" sz="1250" u="none" cap="none" strike="noStrike">
                <a:solidFill>
                  <a:srgbClr val="14243B"/>
                </a:solidFill>
                <a:latin typeface="Calibri"/>
                <a:ea typeface="Calibri"/>
                <a:cs typeface="Calibri"/>
                <a:sym typeface="Calibri"/>
              </a:rPr>
              <a:t>Checked AI-generated suggestions against course materials and academic sources.</a:t>
            </a:r>
            <a:endParaRPr b="0" i="0" sz="1250" u="none" cap="none" strike="noStrike">
              <a:solidFill>
                <a:schemeClr val="dk1"/>
              </a:solidFill>
              <a:latin typeface="Calibri"/>
              <a:ea typeface="Calibri"/>
              <a:cs typeface="Calibri"/>
              <a:sym typeface="Calibri"/>
            </a:endParaRPr>
          </a:p>
        </p:txBody>
      </p:sp>
      <p:sp>
        <p:nvSpPr>
          <p:cNvPr id="277" name="Google Shape;277;p13"/>
          <p:cNvSpPr/>
          <p:nvPr/>
        </p:nvSpPr>
        <p:spPr>
          <a:xfrm>
            <a:off x="4663440" y="3017520"/>
            <a:ext cx="4023360" cy="1508760"/>
          </a:xfrm>
          <a:prstGeom prst="roundRect">
            <a:avLst>
              <a:gd fmla="val 6061" name="adj"/>
            </a:avLst>
          </a:prstGeom>
          <a:solidFill>
            <a:srgbClr val="0B2447"/>
          </a:solidFill>
          <a:ln cap="flat" cmpd="sng" w="12700">
            <a:solidFill>
              <a:srgbClr val="0B24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4864608" y="3218688"/>
            <a:ext cx="420624" cy="420624"/>
          </a:xfrm>
          <a:prstGeom prst="ellipse">
            <a:avLst/>
          </a:prstGeom>
          <a:solidFill>
            <a:srgbClr val="A9CBEE"/>
          </a:solidFill>
          <a:ln cap="flat" cmpd="sng" w="12700">
            <a:solidFill>
              <a:srgbClr val="A9C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txBox="1"/>
          <p:nvPr/>
        </p:nvSpPr>
        <p:spPr>
          <a:xfrm>
            <a:off x="4864608" y="32186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447"/>
              </a:buClr>
              <a:buSzPts val="1600"/>
              <a:buFont typeface="Cambria"/>
              <a:buNone/>
            </a:pPr>
            <a:r>
              <a:rPr b="1" i="0" lang="en-US" sz="1600" u="none" cap="none" strike="noStrike">
                <a:solidFill>
                  <a:srgbClr val="0B2447"/>
                </a:solidFill>
                <a:latin typeface="Cambria"/>
                <a:ea typeface="Cambria"/>
                <a:cs typeface="Cambria"/>
                <a:sym typeface="Cambria"/>
              </a:rPr>
              <a:t>4</a:t>
            </a:r>
            <a:endParaRPr b="0" i="0" sz="1600" u="none" cap="none" strike="noStrike">
              <a:solidFill>
                <a:schemeClr val="dk1"/>
              </a:solidFill>
              <a:latin typeface="Calibri"/>
              <a:ea typeface="Calibri"/>
              <a:cs typeface="Calibri"/>
              <a:sym typeface="Calibri"/>
            </a:endParaRPr>
          </a:p>
        </p:txBody>
      </p:sp>
      <p:sp>
        <p:nvSpPr>
          <p:cNvPr id="280" name="Google Shape;280;p13"/>
          <p:cNvSpPr txBox="1"/>
          <p:nvPr/>
        </p:nvSpPr>
        <p:spPr>
          <a:xfrm>
            <a:off x="5440680" y="3218688"/>
            <a:ext cx="3063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Intellectual responsibility</a:t>
            </a:r>
            <a:endParaRPr b="0" i="0" sz="1500" u="none" cap="none" strike="noStrike">
              <a:solidFill>
                <a:schemeClr val="dk1"/>
              </a:solidFill>
              <a:latin typeface="Calibri"/>
              <a:ea typeface="Calibri"/>
              <a:cs typeface="Calibri"/>
              <a:sym typeface="Calibri"/>
            </a:endParaRPr>
          </a:p>
        </p:txBody>
      </p:sp>
      <p:sp>
        <p:nvSpPr>
          <p:cNvPr id="281" name="Google Shape;281;p13"/>
          <p:cNvSpPr txBox="1"/>
          <p:nvPr/>
        </p:nvSpPr>
        <p:spPr>
          <a:xfrm>
            <a:off x="5440680" y="3639312"/>
            <a:ext cx="3063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The topic, literature choices, methodological decisions, and final argument remain my responsibility.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447"/>
        </a:solidFill>
      </p:bgPr>
    </p:bg>
    <p:spTree>
      <p:nvGrpSpPr>
        <p:cNvPr id="286" name="Shape 286"/>
        <p:cNvGrpSpPr/>
        <p:nvPr/>
      </p:nvGrpSpPr>
      <p:grpSpPr>
        <a:xfrm>
          <a:off x="0" y="0"/>
          <a:ext cx="0" cy="0"/>
          <a:chOff x="0" y="0"/>
          <a:chExt cx="0" cy="0"/>
        </a:xfrm>
      </p:grpSpPr>
      <p:sp>
        <p:nvSpPr>
          <p:cNvPr id="287" name="Google Shape;287;p14"/>
          <p:cNvSpPr txBox="1"/>
          <p:nvPr/>
        </p:nvSpPr>
        <p:spPr>
          <a:xfrm>
            <a:off x="457200" y="292608"/>
            <a:ext cx="3657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CBEE"/>
              </a:buClr>
              <a:buSzPts val="1000"/>
              <a:buFont typeface="Calibri"/>
              <a:buNone/>
            </a:pPr>
            <a:r>
              <a:rPr b="1" i="0" lang="en-US" sz="1000" u="none" cap="none" strike="noStrike">
                <a:solidFill>
                  <a:srgbClr val="A9CBEE"/>
                </a:solidFill>
                <a:latin typeface="Calibri"/>
                <a:ea typeface="Calibri"/>
                <a:cs typeface="Calibri"/>
                <a:sym typeface="Calibri"/>
              </a:rPr>
              <a:t>NOT GRADED</a:t>
            </a:r>
            <a:endParaRPr b="0" i="0" sz="1000" u="none" cap="none" strike="noStrike">
              <a:solidFill>
                <a:schemeClr val="dk1"/>
              </a:solidFill>
              <a:latin typeface="Calibri"/>
              <a:ea typeface="Calibri"/>
              <a:cs typeface="Calibri"/>
              <a:sym typeface="Calibri"/>
            </a:endParaRPr>
          </a:p>
        </p:txBody>
      </p:sp>
      <p:sp>
        <p:nvSpPr>
          <p:cNvPr id="288" name="Google Shape;288;p14"/>
          <p:cNvSpPr txBox="1"/>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Reflection on research design</a:t>
            </a:r>
            <a:endParaRPr b="0" i="0" sz="2800" u="none" cap="none" strike="noStrike">
              <a:solidFill>
                <a:schemeClr val="dk1"/>
              </a:solidFill>
              <a:latin typeface="Calibri"/>
              <a:ea typeface="Calibri"/>
              <a:cs typeface="Calibri"/>
              <a:sym typeface="Calibri"/>
            </a:endParaRPr>
          </a:p>
        </p:txBody>
      </p:sp>
      <p:sp>
        <p:nvSpPr>
          <p:cNvPr id="289" name="Google Shape;289;p14"/>
          <p:cNvSpPr/>
          <p:nvPr/>
        </p:nvSpPr>
        <p:spPr>
          <a:xfrm>
            <a:off x="457200" y="1325880"/>
            <a:ext cx="4023360" cy="2606040"/>
          </a:xfrm>
          <a:prstGeom prst="roundRect">
            <a:avLst>
              <a:gd fmla="val 3509"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txBox="1"/>
          <p:nvPr/>
        </p:nvSpPr>
        <p:spPr>
          <a:xfrm>
            <a:off x="685800" y="1463040"/>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600"/>
              <a:buFont typeface="Cambria"/>
              <a:buNone/>
            </a:pPr>
            <a:r>
              <a:rPr b="1" i="0" lang="en-US" sz="1600" u="none" cap="none" strike="noStrike">
                <a:solidFill>
                  <a:srgbClr val="0B2447"/>
                </a:solidFill>
                <a:latin typeface="Cambria"/>
                <a:ea typeface="Cambria"/>
                <a:cs typeface="Cambria"/>
                <a:sym typeface="Cambria"/>
              </a:rPr>
              <a:t>What I understand now</a:t>
            </a:r>
            <a:endParaRPr b="0" i="0" sz="1600" u="none" cap="none" strike="noStrike">
              <a:solidFill>
                <a:schemeClr val="dk1"/>
              </a:solidFill>
              <a:latin typeface="Calibri"/>
              <a:ea typeface="Calibri"/>
              <a:cs typeface="Calibri"/>
              <a:sym typeface="Calibri"/>
            </a:endParaRPr>
          </a:p>
        </p:txBody>
      </p:sp>
      <p:sp>
        <p:nvSpPr>
          <p:cNvPr id="291" name="Google Shape;291;p14"/>
          <p:cNvSpPr txBox="1"/>
          <p:nvPr/>
        </p:nvSpPr>
        <p:spPr>
          <a:xfrm>
            <a:off x="685800" y="1874520"/>
            <a:ext cx="3611880" cy="1965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A research question needs a clear population, context, phenomenon, and time.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Interpretivism fits when the focus is meaning and lived experience.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A participation channel existing does not make participation meaningful.</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A literature review connects sources and identifies a gap.</a:t>
            </a:r>
            <a:endParaRPr b="0" i="0" sz="1200" u="none" cap="none" strike="noStrike">
              <a:solidFill>
                <a:schemeClr val="dk1"/>
              </a:solidFill>
              <a:latin typeface="Calibri"/>
              <a:ea typeface="Calibri"/>
              <a:cs typeface="Calibri"/>
              <a:sym typeface="Calibri"/>
            </a:endParaRPr>
          </a:p>
        </p:txBody>
      </p:sp>
      <p:sp>
        <p:nvSpPr>
          <p:cNvPr id="292" name="Google Shape;292;p14"/>
          <p:cNvSpPr/>
          <p:nvPr/>
        </p:nvSpPr>
        <p:spPr>
          <a:xfrm>
            <a:off x="4663440" y="1325880"/>
            <a:ext cx="4023360" cy="2606040"/>
          </a:xfrm>
          <a:prstGeom prst="roundRect">
            <a:avLst>
              <a:gd fmla="val 3509" name="adj"/>
            </a:avLst>
          </a:prstGeom>
          <a:solidFill>
            <a:srgbClr val="DCEAF8"/>
          </a:solidFill>
          <a:ln cap="flat" cmpd="sng" w="12700">
            <a:solidFill>
              <a:srgbClr val="DCEA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txBox="1"/>
          <p:nvPr/>
        </p:nvSpPr>
        <p:spPr>
          <a:xfrm>
            <a:off x="4892040" y="1463040"/>
            <a:ext cx="35661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2447"/>
              </a:buClr>
              <a:buSzPts val="1600"/>
              <a:buFont typeface="Cambria"/>
              <a:buNone/>
            </a:pPr>
            <a:r>
              <a:rPr b="1" i="0" lang="en-US" sz="1600" u="none" cap="none" strike="noStrike">
                <a:solidFill>
                  <a:srgbClr val="0B2447"/>
                </a:solidFill>
                <a:latin typeface="Cambria"/>
                <a:ea typeface="Cambria"/>
                <a:cs typeface="Cambria"/>
                <a:sym typeface="Cambria"/>
              </a:rPr>
              <a:t>What I still need to refine</a:t>
            </a:r>
            <a:endParaRPr b="0" i="0" sz="1600" u="none" cap="none" strike="noStrike">
              <a:solidFill>
                <a:schemeClr val="dk1"/>
              </a:solidFill>
              <a:latin typeface="Calibri"/>
              <a:ea typeface="Calibri"/>
              <a:cs typeface="Calibri"/>
              <a:sym typeface="Calibri"/>
            </a:endParaRPr>
          </a:p>
        </p:txBody>
      </p:sp>
      <p:sp>
        <p:nvSpPr>
          <p:cNvPr id="294" name="Google Shape;294;p14"/>
          <p:cNvSpPr txBox="1"/>
          <p:nvPr/>
        </p:nvSpPr>
        <p:spPr>
          <a:xfrm>
            <a:off x="4892040" y="1874520"/>
            <a:ext cx="3611880" cy="19659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Final interview questions</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Participant recruitment</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Informed-consent procedure</a:t>
            </a:r>
            <a:endParaRPr b="0" i="0" sz="1200" u="none" cap="none" strike="noStrike">
              <a:solidFill>
                <a:schemeClr val="dk1"/>
              </a:solidFill>
              <a:latin typeface="Calibri"/>
              <a:ea typeface="Calibri"/>
              <a:cs typeface="Calibri"/>
              <a:sym typeface="Calibri"/>
            </a:endParaRPr>
          </a:p>
          <a:p>
            <a:pPr indent="-342900" lvl="0" marL="342900" marR="0" rtl="0" algn="l">
              <a:spcBef>
                <a:spcPts val="700"/>
              </a:spcBef>
              <a:spcAft>
                <a:spcPts val="0"/>
              </a:spcAft>
              <a:buClr>
                <a:srgbClr val="14243B"/>
              </a:buClr>
              <a:buSzPts val="1200"/>
              <a:buFont typeface="Calibri"/>
              <a:buChar char="•"/>
            </a:pPr>
            <a:r>
              <a:rPr b="0" i="0" lang="en-US" sz="1200" u="none" cap="none" strike="noStrike">
                <a:solidFill>
                  <a:srgbClr val="14243B"/>
                </a:solidFill>
                <a:latin typeface="Calibri"/>
                <a:ea typeface="Calibri"/>
                <a:cs typeface="Calibri"/>
                <a:sym typeface="Calibri"/>
              </a:rPr>
              <a:t>Comparing different student perspectives fairly</a:t>
            </a:r>
            <a:endParaRPr b="0" i="0" sz="1200" u="none" cap="none" strike="noStrike">
              <a:solidFill>
                <a:schemeClr val="dk1"/>
              </a:solidFill>
              <a:latin typeface="Calibri"/>
              <a:ea typeface="Calibri"/>
              <a:cs typeface="Calibri"/>
              <a:sym typeface="Calibri"/>
            </a:endParaRPr>
          </a:p>
        </p:txBody>
      </p:sp>
      <p:sp>
        <p:nvSpPr>
          <p:cNvPr id="295" name="Google Shape;295;p14"/>
          <p:cNvSpPr txBox="1"/>
          <p:nvPr/>
        </p:nvSpPr>
        <p:spPr>
          <a:xfrm>
            <a:off x="457200" y="4114800"/>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Thank you</a:t>
            </a:r>
            <a:endParaRPr b="0" i="0" sz="2800" u="none" cap="none" strike="noStrike">
              <a:solidFill>
                <a:schemeClr val="dk1"/>
              </a:solidFill>
              <a:latin typeface="Calibri"/>
              <a:ea typeface="Calibri"/>
              <a:cs typeface="Calibri"/>
              <a:sym typeface="Calibri"/>
            </a:endParaRPr>
          </a:p>
        </p:txBody>
      </p:sp>
      <p:sp>
        <p:nvSpPr>
          <p:cNvPr id="296" name="Google Shape;296;p14"/>
          <p:cNvSpPr txBox="1"/>
          <p:nvPr/>
        </p:nvSpPr>
        <p:spPr>
          <a:xfrm>
            <a:off x="4114800" y="4114800"/>
            <a:ext cx="45720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9CBEE"/>
              </a:buClr>
              <a:buSzPts val="1500"/>
              <a:buFont typeface="Calibri"/>
              <a:buNone/>
            </a:pPr>
            <a:r>
              <a:rPr b="0" i="0" lang="en-US" sz="1500" u="none" cap="none" strike="noStrike">
                <a:solidFill>
                  <a:srgbClr val="A9CBEE"/>
                </a:solidFill>
                <a:latin typeface="Calibri"/>
                <a:ea typeface="Calibri"/>
                <a:cs typeface="Calibri"/>
                <a:sym typeface="Calibri"/>
              </a:rPr>
              <a:t>Questions and feedback welcome!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